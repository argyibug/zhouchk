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351" r:id="rId6"/>
    <p:sldId id="258" r:id="rId7"/>
    <p:sldId id="375" r:id="rId8"/>
    <p:sldId id="370" r:id="rId9"/>
    <p:sldId id="352" r:id="rId10"/>
    <p:sldId id="353" r:id="rId11"/>
    <p:sldId id="355" r:id="rId12"/>
    <p:sldId id="354" r:id="rId13"/>
    <p:sldId id="356" r:id="rId14"/>
    <p:sldId id="357" r:id="rId15"/>
    <p:sldId id="361" r:id="rId16"/>
    <p:sldId id="358" r:id="rId17"/>
    <p:sldId id="365" r:id="rId18"/>
    <p:sldId id="366" r:id="rId19"/>
    <p:sldId id="369" r:id="rId20"/>
    <p:sldId id="373" r:id="rId21"/>
    <p:sldId id="368" r:id="rId22"/>
    <p:sldId id="283" r:id="rId23"/>
    <p:sldId id="364" r:id="rId24"/>
    <p:sldId id="374" r:id="rId25"/>
    <p:sldId id="376" r:id="rId26"/>
    <p:sldId id="363" r:id="rId27"/>
    <p:sldId id="362" r:id="rId28"/>
    <p:sldId id="359" r:id="rId29"/>
    <p:sldId id="377" r:id="rId30"/>
    <p:sldId id="36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70C0"/>
    <a:srgbClr val="4472C4"/>
    <a:srgbClr val="1C161C"/>
    <a:srgbClr val="FFFFFF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u Chengkang" userId="05ce4f9b-1e4f-4b76-8242-8b5b2f92a85c" providerId="ADAL" clId="{6A0C7C1B-4621-4789-BE4A-E1C699DE5E53}"/>
    <pc:docChg chg="undo redo custSel addSld delSld modSld sldOrd">
      <pc:chgData name="Zhou Chengkang" userId="05ce4f9b-1e4f-4b76-8242-8b5b2f92a85c" providerId="ADAL" clId="{6A0C7C1B-4621-4789-BE4A-E1C699DE5E53}" dt="2026-08-17T02:48:31.670" v="4002" actId="1035"/>
      <pc:docMkLst>
        <pc:docMk/>
      </pc:docMkLst>
      <pc:sldChg chg="addSp delSp modSp mod">
        <pc:chgData name="Zhou Chengkang" userId="05ce4f9b-1e4f-4b76-8242-8b5b2f92a85c" providerId="ADAL" clId="{6A0C7C1B-4621-4789-BE4A-E1C699DE5E53}" dt="2026-04-15T02:22:13.336" v="3983" actId="478"/>
        <pc:sldMkLst>
          <pc:docMk/>
          <pc:sldMk cId="3612821768" sldId="356"/>
        </pc:sldMkLst>
      </pc:sldChg>
      <pc:sldChg chg="addSp delSp modSp mod">
        <pc:chgData name="Zhou Chengkang" userId="05ce4f9b-1e4f-4b76-8242-8b5b2f92a85c" providerId="ADAL" clId="{6A0C7C1B-4621-4789-BE4A-E1C699DE5E53}" dt="2026-04-15T01:52:10.689" v="3980"/>
        <pc:sldMkLst>
          <pc:docMk/>
          <pc:sldMk cId="1506425606" sldId="358"/>
        </pc:sldMkLst>
      </pc:sldChg>
      <pc:sldChg chg="addSp modSp mod">
        <pc:chgData name="Zhou Chengkang" userId="05ce4f9b-1e4f-4b76-8242-8b5b2f92a85c" providerId="ADAL" clId="{6A0C7C1B-4621-4789-BE4A-E1C699DE5E53}" dt="2026-04-15T01:01:20.995" v="3963" actId="1076"/>
        <pc:sldMkLst>
          <pc:docMk/>
          <pc:sldMk cId="280400862" sldId="362"/>
        </pc:sldMkLst>
      </pc:sldChg>
      <pc:sldChg chg="addSp delSp modSp add mod ord modShow modNotesTx">
        <pc:chgData name="Zhou Chengkang" userId="05ce4f9b-1e4f-4b76-8242-8b5b2f92a85c" providerId="ADAL" clId="{6A0C7C1B-4621-4789-BE4A-E1C699DE5E53}" dt="2026-04-15T01:01:24.332" v="3964"/>
        <pc:sldMkLst>
          <pc:docMk/>
          <pc:sldMk cId="4210648896" sldId="363"/>
        </pc:sldMkLst>
      </pc:sldChg>
      <pc:sldChg chg="addSp delSp modSp add mod ord modShow">
        <pc:chgData name="Zhou Chengkang" userId="05ce4f9b-1e4f-4b76-8242-8b5b2f92a85c" providerId="ADAL" clId="{6A0C7C1B-4621-4789-BE4A-E1C699DE5E53}" dt="2026-04-14T08:46:39.446" v="3933" actId="729"/>
        <pc:sldMkLst>
          <pc:docMk/>
          <pc:sldMk cId="4247358644" sldId="364"/>
        </pc:sldMkLst>
      </pc:sldChg>
      <pc:sldChg chg="addSp delSp modSp add mod">
        <pc:chgData name="Zhou Chengkang" userId="05ce4f9b-1e4f-4b76-8242-8b5b2f92a85c" providerId="ADAL" clId="{6A0C7C1B-4621-4789-BE4A-E1C699DE5E53}" dt="2026-04-15T08:41:51.259" v="3993" actId="1076"/>
        <pc:sldMkLst>
          <pc:docMk/>
          <pc:sldMk cId="1823726363" sldId="365"/>
        </pc:sldMkLst>
      </pc:sldChg>
      <pc:sldChg chg="addSp delSp modSp add mod">
        <pc:chgData name="Zhou Chengkang" userId="05ce4f9b-1e4f-4b76-8242-8b5b2f92a85c" providerId="ADAL" clId="{6A0C7C1B-4621-4789-BE4A-E1C699DE5E53}" dt="2026-04-15T01:52:19.732" v="3981"/>
        <pc:sldMkLst>
          <pc:docMk/>
          <pc:sldMk cId="1005693485" sldId="368"/>
        </pc:sldMkLst>
      </pc:sldChg>
      <pc:sldChg chg="addSp modSp mod">
        <pc:chgData name="Zhou Chengkang" userId="05ce4f9b-1e4f-4b76-8242-8b5b2f92a85c" providerId="ADAL" clId="{6A0C7C1B-4621-4789-BE4A-E1C699DE5E53}" dt="2026-08-17T02:48:31.670" v="4002" actId="1035"/>
        <pc:sldMkLst>
          <pc:docMk/>
          <pc:sldMk cId="2189374447" sldId="370"/>
        </pc:sldMkLst>
        <pc:spChg chg="mod">
          <ac:chgData name="Zhou Chengkang" userId="05ce4f9b-1e4f-4b76-8242-8b5b2f92a85c" providerId="ADAL" clId="{6A0C7C1B-4621-4789-BE4A-E1C699DE5E53}" dt="2026-08-17T02:48:25.698" v="4000"/>
          <ac:spMkLst>
            <pc:docMk/>
            <pc:sldMk cId="2189374447" sldId="370"/>
            <ac:spMk id="34" creationId="{DE62FA5B-9B08-ABC7-D11D-08A398BC0B56}"/>
          </ac:spMkLst>
        </pc:spChg>
        <pc:grpChg chg="mod">
          <ac:chgData name="Zhou Chengkang" userId="05ce4f9b-1e4f-4b76-8242-8b5b2f92a85c" providerId="ADAL" clId="{6A0C7C1B-4621-4789-BE4A-E1C699DE5E53}" dt="2026-08-17T02:48:31.670" v="4002" actId="1035"/>
          <ac:grpSpMkLst>
            <pc:docMk/>
            <pc:sldMk cId="2189374447" sldId="370"/>
            <ac:grpSpMk id="3" creationId="{862CFFAA-2A5D-AAEC-DF9F-059308BC858E}"/>
          </ac:grpSpMkLst>
        </pc:grpChg>
      </pc:sldChg>
      <pc:sldChg chg="modSp add mod ord modShow">
        <pc:chgData name="Zhou Chengkang" userId="05ce4f9b-1e4f-4b76-8242-8b5b2f92a85c" providerId="ADAL" clId="{6A0C7C1B-4621-4789-BE4A-E1C699DE5E53}" dt="2026-04-14T08:46:39.446" v="3933" actId="729"/>
        <pc:sldMkLst>
          <pc:docMk/>
          <pc:sldMk cId="1008015212" sldId="374"/>
        </pc:sldMkLst>
      </pc:sldChg>
      <pc:sldChg chg="addSp delSp modSp new mod ord">
        <pc:chgData name="Zhou Chengkang" userId="05ce4f9b-1e4f-4b76-8242-8b5b2f92a85c" providerId="ADAL" clId="{6A0C7C1B-4621-4789-BE4A-E1C699DE5E53}" dt="2026-04-17T02:26:31.886" v="3994" actId="207"/>
        <pc:sldMkLst>
          <pc:docMk/>
          <pc:sldMk cId="3955659483" sldId="376"/>
        </pc:sldMkLst>
      </pc:sldChg>
    </pc:docChg>
  </pc:docChgLst>
  <pc:docChgLst>
    <pc:chgData name="Zhou Chengkang" userId="S::zhouchk2@hku.hk::05ce4f9b-1e4f-4b76-8242-8b5b2f92a85c" providerId="AD" clId="Web-{0F8A9DB8-E092-879F-E98D-7499B3DF48BF}"/>
    <pc:docChg chg="modSld">
      <pc:chgData name="Zhou Chengkang" userId="S::zhouchk2@hku.hk::05ce4f9b-1e4f-4b76-8242-8b5b2f92a85c" providerId="AD" clId="Web-{0F8A9DB8-E092-879F-E98D-7499B3DF48BF}" dt="2026-05-11T09:51:06.207" v="2" actId="1076"/>
      <pc:docMkLst>
        <pc:docMk/>
      </pc:docMkLst>
      <pc:sldChg chg="modSp">
        <pc:chgData name="Zhou Chengkang" userId="S::zhouchk2@hku.hk::05ce4f9b-1e4f-4b76-8242-8b5b2f92a85c" providerId="AD" clId="Web-{0F8A9DB8-E092-879F-E98D-7499B3DF48BF}" dt="2026-05-11T09:51:06.207" v="2" actId="1076"/>
        <pc:sldMkLst>
          <pc:docMk/>
          <pc:sldMk cId="3612821768" sldId="356"/>
        </pc:sldMkLst>
      </pc:sldChg>
    </pc:docChg>
  </pc:docChgLst>
  <pc:docChgLst>
    <pc:chgData name="Zhou Chengkang" userId="05ce4f9b-1e4f-4b76-8242-8b5b2f92a85c" providerId="ADAL" clId="{FD9E4FD4-DAAD-4655-A17E-C6BF6D53DDB2}"/>
    <pc:docChg chg="undo custSel addSld modSld">
      <pc:chgData name="Zhou Chengkang" userId="05ce4f9b-1e4f-4b76-8242-8b5b2f92a85c" providerId="ADAL" clId="{FD9E4FD4-DAAD-4655-A17E-C6BF6D53DDB2}" dt="2026-05-12T07:47:06.533" v="762"/>
      <pc:docMkLst>
        <pc:docMk/>
      </pc:docMkLst>
      <pc:sldChg chg="addSp modSp mod modNotesTx">
        <pc:chgData name="Zhou Chengkang" userId="05ce4f9b-1e4f-4b76-8242-8b5b2f92a85c" providerId="ADAL" clId="{FD9E4FD4-DAAD-4655-A17E-C6BF6D53DDB2}" dt="2026-05-06T08:51:50.007" v="348" actId="20577"/>
        <pc:sldMkLst>
          <pc:docMk/>
          <pc:sldMk cId="3192745927" sldId="258"/>
        </pc:sldMkLst>
      </pc:sldChg>
      <pc:sldChg chg="modSp mod">
        <pc:chgData name="Zhou Chengkang" userId="05ce4f9b-1e4f-4b76-8242-8b5b2f92a85c" providerId="ADAL" clId="{FD9E4FD4-DAAD-4655-A17E-C6BF6D53DDB2}" dt="2026-05-09T07:25:33.402" v="489" actId="20577"/>
        <pc:sldMkLst>
          <pc:docMk/>
          <pc:sldMk cId="1521717832" sldId="283"/>
        </pc:sldMkLst>
      </pc:sldChg>
      <pc:sldChg chg="addSp modSp mod">
        <pc:chgData name="Zhou Chengkang" userId="05ce4f9b-1e4f-4b76-8242-8b5b2f92a85c" providerId="ADAL" clId="{FD9E4FD4-DAAD-4655-A17E-C6BF6D53DDB2}" dt="2026-05-06T08:59:46.517" v="484" actId="14100"/>
        <pc:sldMkLst>
          <pc:docMk/>
          <pc:sldMk cId="223525242" sldId="351"/>
        </pc:sldMkLst>
      </pc:sldChg>
      <pc:sldChg chg="modSp mod modNotesTx">
        <pc:chgData name="Zhou Chengkang" userId="05ce4f9b-1e4f-4b76-8242-8b5b2f92a85c" providerId="ADAL" clId="{FD9E4FD4-DAAD-4655-A17E-C6BF6D53DDB2}" dt="2026-05-06T08:53:14.249" v="381" actId="20577"/>
        <pc:sldMkLst>
          <pc:docMk/>
          <pc:sldMk cId="3612821768" sldId="356"/>
        </pc:sldMkLst>
      </pc:sldChg>
      <pc:sldChg chg="modSp">
        <pc:chgData name="Zhou Chengkang" userId="05ce4f9b-1e4f-4b76-8242-8b5b2f92a85c" providerId="ADAL" clId="{FD9E4FD4-DAAD-4655-A17E-C6BF6D53DDB2}" dt="2026-05-06T06:29:07.912" v="269" actId="20577"/>
        <pc:sldMkLst>
          <pc:docMk/>
          <pc:sldMk cId="1746301584" sldId="361"/>
        </pc:sldMkLst>
      </pc:sldChg>
      <pc:sldChg chg="modSp">
        <pc:chgData name="Zhou Chengkang" userId="05ce4f9b-1e4f-4b76-8242-8b5b2f92a85c" providerId="ADAL" clId="{FD9E4FD4-DAAD-4655-A17E-C6BF6D53DDB2}" dt="2026-05-12T06:24:59.276" v="528" actId="20577"/>
        <pc:sldMkLst>
          <pc:docMk/>
          <pc:sldMk cId="4247358644" sldId="364"/>
        </pc:sldMkLst>
      </pc:sldChg>
      <pc:sldChg chg="modSp mod">
        <pc:chgData name="Zhou Chengkang" userId="05ce4f9b-1e4f-4b76-8242-8b5b2f92a85c" providerId="ADAL" clId="{FD9E4FD4-DAAD-4655-A17E-C6BF6D53DDB2}" dt="2026-05-12T07:40:20.053" v="568" actId="20577"/>
        <pc:sldMkLst>
          <pc:docMk/>
          <pc:sldMk cId="3080558571" sldId="366"/>
        </pc:sldMkLst>
      </pc:sldChg>
      <pc:sldChg chg="addSp modSp mod">
        <pc:chgData name="Zhou Chengkang" userId="05ce4f9b-1e4f-4b76-8242-8b5b2f92a85c" providerId="ADAL" clId="{FD9E4FD4-DAAD-4655-A17E-C6BF6D53DDB2}" dt="2026-05-12T07:47:06.533" v="762"/>
        <pc:sldMkLst>
          <pc:docMk/>
          <pc:sldMk cId="1005693485" sldId="368"/>
        </pc:sldMkLst>
      </pc:sldChg>
      <pc:sldChg chg="addSp delSp modSp mod">
        <pc:chgData name="Zhou Chengkang" userId="05ce4f9b-1e4f-4b76-8242-8b5b2f92a85c" providerId="ADAL" clId="{FD9E4FD4-DAAD-4655-A17E-C6BF6D53DDB2}" dt="2026-05-12T07:42:05.921" v="660" actId="20577"/>
        <pc:sldMkLst>
          <pc:docMk/>
          <pc:sldMk cId="1197436211" sldId="369"/>
        </pc:sldMkLst>
      </pc:sldChg>
      <pc:sldChg chg="modSp mod">
        <pc:chgData name="Zhou Chengkang" userId="05ce4f9b-1e4f-4b76-8242-8b5b2f92a85c" providerId="ADAL" clId="{FD9E4FD4-DAAD-4655-A17E-C6BF6D53DDB2}" dt="2026-05-10T12:55:35.040" v="505" actId="20577"/>
        <pc:sldMkLst>
          <pc:docMk/>
          <pc:sldMk cId="2189374447" sldId="370"/>
        </pc:sldMkLst>
      </pc:sldChg>
      <pc:sldChg chg="modSp mod">
        <pc:chgData name="Zhou Chengkang" userId="05ce4f9b-1e4f-4b76-8242-8b5b2f92a85c" providerId="ADAL" clId="{FD9E4FD4-DAAD-4655-A17E-C6BF6D53DDB2}" dt="2026-05-12T07:42:20.415" v="667" actId="20577"/>
        <pc:sldMkLst>
          <pc:docMk/>
          <pc:sldMk cId="754572579" sldId="373"/>
        </pc:sldMkLst>
      </pc:sldChg>
      <pc:sldChg chg="modSp">
        <pc:chgData name="Zhou Chengkang" userId="05ce4f9b-1e4f-4b76-8242-8b5b2f92a85c" providerId="ADAL" clId="{FD9E4FD4-DAAD-4655-A17E-C6BF6D53DDB2}" dt="2026-04-15T11:13:55.753" v="238" actId="20577"/>
        <pc:sldMkLst>
          <pc:docMk/>
          <pc:sldMk cId="3955659483" sldId="376"/>
        </pc:sldMkLst>
      </pc:sldChg>
      <pc:sldChg chg="modSp add mod">
        <pc:chgData name="Zhou Chengkang" userId="05ce4f9b-1e4f-4b76-8242-8b5b2f92a85c" providerId="ADAL" clId="{FD9E4FD4-DAAD-4655-A17E-C6BF6D53DDB2}" dt="2026-05-06T08:55:27.487" v="451" actId="20577"/>
        <pc:sldMkLst>
          <pc:docMk/>
          <pc:sldMk cId="3592644681" sldId="3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04B3ED-364F-0203-BF2D-E5FEC3D9E0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E99E3-32C0-A0EA-96BE-040787ABF8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E58C6-66E7-F54E-9D3E-EB9FA2A31011}" type="datetimeFigureOut">
              <a:rPr kumimoji="1" lang="zh-CN" altLang="en-US" smtClean="0"/>
              <a:t>2026/8/17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842AA-85B7-C69D-6030-0AC5F3B33B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32B4B-02C6-E937-3099-DA3D0A74C0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C39C5-6B1C-8146-93DA-7E1314A735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8087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05967-8A99-4328-B291-BE07D23E0342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A56DA-06F9-452D-959E-91901FBAD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885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3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0A15-CA20-D137-F304-A6DB9052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7173A-DE93-9BD5-6AAB-7BD21515A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71824C-477B-C7E7-270D-688F36EAA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05B1D-AF18-697E-ABDA-37C311214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6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8D61F-B03D-38FB-9157-3B2FBD4D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907CF-B8E6-BEC5-EE1F-D7412DD2B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C27DA9-1C4D-CEB3-04E2-9B1C421AC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F7F0F8-A1BB-9B60-A2A3-AA39BF415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9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431C-C428-1977-F973-DD31ED40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E0DC36-220F-13B6-2F96-AC5FB3F82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37EDA3-7D35-9070-91FE-F7B75C742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5B65A1-618B-3C46-12AD-826F10092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817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8E0A-94EA-8888-841B-EA055F47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63BE66-DD28-9228-A01D-BC401BB83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5A5D83-11F8-C64E-1C7D-14DF2269B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2D49D4-EF16-B1CE-C173-413C4BAFE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9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738E-0129-82D1-F96C-B2183A93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259F0B-58C8-942B-EBF5-887525896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1E7738-D2A6-4033-8AFB-C2A2DD4C9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567611-07DD-0356-259A-EA54A544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283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DCC0-0493-E18E-2591-CD2E294C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75D2B0-4876-96F0-0861-1FCF08E85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F90369-0419-6060-65C1-343097F30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398DF3-40CA-27B2-7E61-3E8C1F6D2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185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C024-07CD-CB9E-3FC6-34183E63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60842A-D8F0-CCEE-94C8-173A1695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4B3710-DE5F-B19D-176B-D7DA38EA8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61DAE2-8078-1913-94C1-ACFC9CA33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34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0D75-6FD1-07AD-767D-D72A521C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CE9082-80B2-A247-3EBC-39A361D98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3E2670-9742-74FE-0F72-09D50284E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4AF009-AF96-AA7B-448F-21826357E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559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E583-0A3F-D0B3-42EF-0283FB96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69AFC2-1627-EA0D-D738-EEB7CC28F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D9E476-D731-6F84-FAD5-DABFA6754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F8C0D3-6AE8-D4F8-B19A-E6925C6A7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31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5FD9-2E2A-4D09-93BE-10B19284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7E0B04-12D7-20BA-FB36-DF1D95BF5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7CA50E-9B70-8A27-E5DC-6C36E243E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E7C267-A160-1658-5971-0CD8EE045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893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53AB-F9F9-C5B4-D98E-858867D8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79FD7D-6DF1-D89F-B0AE-0679993F1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86404F-4AFB-8790-1DF0-6FD05D1BE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5FF9F1-3DF6-C828-9E93-F81238B44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585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759C-BC0F-C2BF-642A-CBF7A3CC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9D858F-0B02-26F3-0DC2-5BC9B51EA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968417-83EB-1D21-104F-F6D8A2B5B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B0F60F-B943-6C73-C471-BF7FB97A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28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29E7-29EF-399E-4048-5C8D1E718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CD675C-619E-4EB4-D7F3-23A6FFC9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C09650-E500-3264-82DD-5E3AFFBD6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6A6BC7-A850-243A-FDBF-883A133B1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776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1044-0618-467C-8453-25167B27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0498CA-F597-5916-67AB-F41F03440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44EBD4-A089-529A-E9CA-D738E52A3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17CEE-9183-91E3-2E12-795C9D6FB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30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246D-6E6C-809E-3C6E-AC7F03D0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98F3F-1155-58DA-A188-1DE46EF21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3735E9-78CE-6573-E6C9-E2B63A209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6F7C7-87B2-F45F-056F-1685A4AFF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10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7001-57ED-CAF5-8F4E-58B186F0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21BFFB-3690-D487-4408-04C9F944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8C8E5F-FC63-71A4-D6D4-AA018E2E4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89C1FE-A357-643B-4350-8AE4B80AF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023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86CB-F74F-175F-06E2-30D1670A0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9C05F2-E747-CEAF-942A-82518798F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335CCA-265C-9229-4F0C-4E5F7602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CBB828-0CCF-11F1-3065-2BE68BE89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515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4FBC-E9D7-0397-36E1-3D8DBB2D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8B100-E378-6496-AF85-E79CC11CC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D773BA-35BF-C33F-D244-D083FABD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Not Good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2684A-F388-4FD0-1CA4-B824D53EE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522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66B8-4890-8AAA-6758-4CED9AF5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8B1B04-CEB7-0BF1-E9E6-765B5072E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3AB87-DE18-B5C1-FA01-C3FCAA1E1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82F57B-CE2E-C71C-9A54-7A1AE186F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05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3966-4B5B-6BE5-23EF-F5068B3D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4A38DB-686E-FF4A-36E3-ACEF1CBE7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F55CC0-E9E8-0CDE-3B4E-1B27CAAC8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F59BC-08C1-4766-801F-7E969125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745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0BA0-C5A9-2EF4-E456-FED4EEF9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954F1E-CB82-A0B3-DD7A-47C8CEA0E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9DA68F-9A9F-6530-722B-8C83D4EE3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E72AC7-6968-F9E2-37BB-52393C32F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809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1D1C2-2DAE-935F-EE54-766B08D4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ED4AD2-47E5-3164-C98F-7DF5F7CC3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D9CA4-1E38-5237-402A-C291769B2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BBD3A2-6415-CAAD-5723-C29260A32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23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6E5F-7781-46FB-9B14-F9613165A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ACE30-F94B-430D-A3B1-F0ADA58D3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01614-36EB-4E24-9BFC-8DCE2BB3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DEDA1-0DD0-9743-8C8B-38731F5B32F9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DA81D-D973-4935-87FE-5284EB8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F0DA-4964-40A7-9B54-27032435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3" descr="图片包含 文本&#10;&#10;描述已自动生成">
            <a:extLst>
              <a:ext uri="{FF2B5EF4-FFF2-40B4-BE49-F238E27FC236}">
                <a16:creationId xmlns:a16="http://schemas.microsoft.com/office/drawing/2014/main" id="{089B9DF2-54CF-C189-AC3C-0EC3D3BBA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82" y="86262"/>
            <a:ext cx="2209441" cy="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3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235D-247B-4D64-B153-5C3D2FE2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B9102-887F-4656-8B4E-D6559F59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0067-6C41-4824-B380-1C0E240E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7569-481D-DA4D-9407-FD22611CD854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1DC22-D9E4-4D90-89A0-C77D6CCE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E069-6772-4184-B401-63286687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A7063196-AC8B-4F7F-813D-86C84287E2E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3" descr="图片包含 文本&#10;&#10;描述已自动生成">
            <a:extLst>
              <a:ext uri="{FF2B5EF4-FFF2-40B4-BE49-F238E27FC236}">
                <a16:creationId xmlns:a16="http://schemas.microsoft.com/office/drawing/2014/main" id="{0CBB6E1B-BE2E-718A-C159-F14F4AEBB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82" y="86262"/>
            <a:ext cx="2209441" cy="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1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D472-996E-4AAA-A77D-FE2B70E3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B4F14-F6C1-4D3E-9756-90274F5E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29B2-0225-4C56-99F8-71A13880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A6FB-F6BC-D549-9890-1325CD0A61C8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AC6A9-7860-4F72-9AB5-2D72227D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CED7-6344-482D-8C47-FA859DDA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6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A6E9-D4E2-46F1-A640-DED7B248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501E-8867-4742-B9D9-00F34637D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9FF67-ED18-4C12-B624-55D802667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1E08-E776-4CE8-BE95-7901C584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06E-69BC-F04E-993B-C43000E41B4C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B06FD-EE79-4FCA-B14D-77EEF051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2BA72-EDE3-4F2D-B0AB-60348B3D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41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0EC4-5F9B-4418-B9E2-51B5A783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4E6AE-B80E-4A7E-9724-04CAC139D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A711-95F0-4F65-A80D-15101F4B7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D2107-A9A9-43D1-B9C3-DF7006E65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F28A6-165D-4E4A-BA9B-82D078C5D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82517-DAF3-4758-84D5-7B055159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9A96-81D6-DF40-9EF8-6B3C3435AB29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8B86A-8030-45FC-966D-8BA65063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154BA-6B7A-4716-BE2D-C5A5185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8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3827-556D-4945-B3AA-C10A890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8696D-025A-4713-A1A7-11515D3A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1BDF-D9AC-4144-B887-77CD2F535C4A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14CBA-F7AF-4498-9520-FC25A683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26EE8-B26D-443D-A195-495530D7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49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08524-6F37-4FBC-9216-96ECEEAB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EA50-D246-9244-B9F0-0C957720E6E0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F2C81-7F6A-485C-BCD5-A1DC81F1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D58E3-BE1A-44C8-8BDB-818A9982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80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45A6-34E6-40A5-A5EC-B6B4C820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5973-14FE-4AD9-A9A2-690E84512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BF6C8-6221-404A-BFF7-D46E5D067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D6307-BB90-4316-8EED-FD9D6E9E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0893-437B-A049-95B0-32D2F7AA2FB9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C903-295F-4C76-A0BE-879507B1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972CA-5F86-4DE5-BC05-6AA82EE8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892E-2042-4F82-B44A-D4C43E49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15325-E018-4A8B-A1A9-AE514C675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9080-115B-4476-8EBA-684E24C4C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660FC-E475-4B01-B50A-0FA2392C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6EBA4-F41F-F142-A92B-921E8495DB4A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11C66-F998-42B7-85DA-AF73EEAF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CABEC-5868-4627-9439-D7A50D85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26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760F-92FC-4466-B173-96137669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CEA23-5BBF-4A0A-A80E-DEB6343ED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D4F9-9293-442B-AEF3-F15FA17F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EE01-D07F-C946-B219-FF6292ACB02C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818A-B050-466C-842A-28AF7C3F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6046-A6E5-4F71-AB26-8426B101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13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BB698-06BE-43B8-8063-5E2C1E421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44BFF-B987-4EE2-A35A-8858A546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E8072-EA4E-4B70-B53F-3CFAAC16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94AB-71A3-DD44-B44A-388F06CCBB9A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1B57C-8C7F-43D4-A56A-9BEEE804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46270-7FFD-4D54-8D98-229D4F3C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7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8B4FA-B9E0-47DA-9359-57049B68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5EAE-2A0F-4B9F-9AAA-955461563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3EF79-EE65-4AB1-B596-DFB069876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97056-79AA-6340-B968-589252CE896C}" type="datetime1">
              <a:rPr lang="en-AU" altLang="zh-CN" smtClean="0"/>
              <a:t>17/08/2026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581E-3A0B-409A-BC71-A20C56E88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355E2-FB6A-4DE3-88C2-24E52A1CF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i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7063196-AC8B-4F7F-813D-86C84287E2E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3" descr="图片包含 文本&#10;&#10;描述已自动生成">
            <a:extLst>
              <a:ext uri="{FF2B5EF4-FFF2-40B4-BE49-F238E27FC236}">
                <a16:creationId xmlns:a16="http://schemas.microsoft.com/office/drawing/2014/main" id="{B7DDA98A-3034-3F10-1816-1B82E6282EB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82" y="86262"/>
            <a:ext cx="2209441" cy="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2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50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journals.aps.org/prl/abstract/10.1103/PhysRevLett.102.100401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s://doi-org.eproxy.lib.hku.hk/10.1038/nphys3700" TargetMode="Externa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journals.aps.org/prb/abstract/10.1103/PhysRevB.107.054422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67-023-02259-1" TargetMode="External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hyperlink" Target="https://doi.org/10.1103/PhysRevB.103.224434" TargetMode="External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" Target="slide6.xml"/><Relationship Id="rId7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journals.aps.org/prb/abstract/10.1103/PhysRevB.69.064404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hyperlink" Target="https://journals.aps.org/prb/abstract/10.1103/PhysRevB.111.134442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hyperlink" Target="https://journals.aps.org/prl/abstract/10.1103/PhysRevLett.111.01040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als.aps.org/prl/abstract/10.1103/PhysRevLett.108.240401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57.png"/><Relationship Id="rId4" Type="http://schemas.openxmlformats.org/officeDocument/2006/relationships/image" Target="../media/image5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doi.org/10.1103/PhysRevB.65.224412" TargetMode="External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-org.eproxy.lib.hku.hk/10.1038/nphys3700" TargetMode="External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hyperlink" Target="https://arxiv.org/abs/2509.0998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5.18124" TargetMode="External"/><Relationship Id="rId5" Type="http://schemas.openxmlformats.org/officeDocument/2006/relationships/slide" Target="slide5.xml"/><Relationship Id="rId4" Type="http://schemas.openxmlformats.org/officeDocument/2006/relationships/image" Target="../media/image6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-org.eproxy.lib.hku.hk/10.1038/nphys3700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4.png"/><Relationship Id="rId3" Type="http://schemas.openxmlformats.org/officeDocument/2006/relationships/image" Target="../media/image72.png"/><Relationship Id="rId7" Type="http://schemas.openxmlformats.org/officeDocument/2006/relationships/hyperlink" Target="https://www.nature.com/articles/s41567-023-02259-1" TargetMode="External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hyperlink" Target="https://doi.org/10.1103/PhysRevB.103.224434" TargetMode="External"/><Relationship Id="rId15" Type="http://schemas.openxmlformats.org/officeDocument/2006/relationships/hyperlink" Target="https://journals.aps.org/prl/abstract/10.1103/PhysRevLett.102.100401" TargetMode="External"/><Relationship Id="rId10" Type="http://schemas.openxmlformats.org/officeDocument/2006/relationships/image" Target="../media/image18.png"/><Relationship Id="rId4" Type="http://schemas.openxmlformats.org/officeDocument/2006/relationships/hyperlink" Target="https://journals.aps.org/prb/abstract/10.1103/PhysRevB.107.054422" TargetMode="External"/><Relationship Id="rId9" Type="http://schemas.openxmlformats.org/officeDocument/2006/relationships/image" Target="../media/image17.png"/><Relationship Id="rId14" Type="http://schemas.openxmlformats.org/officeDocument/2006/relationships/hyperlink" Target="https://doi-org.eproxy.lib.hku.hk/10.1038/nphys3700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89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9776-7843-40E9-8FFC-BFD55B032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128" y="1340285"/>
            <a:ext cx="9661743" cy="2683245"/>
          </a:xfrm>
        </p:spPr>
        <p:txBody>
          <a:bodyPr>
            <a:noAutofit/>
          </a:bodyPr>
          <a:lstStyle/>
          <a:p>
            <a:r>
              <a:rPr lang="en-US" altLang="zh-CN" sz="4800" b="1">
                <a:solidFill>
                  <a:schemeClr val="accent6">
                    <a:lumMod val="50000"/>
                  </a:schemeClr>
                </a:solidFill>
              </a:rPr>
              <a:t>Quantum Fisher Information as a Thermal and Dynamical Probe in Frustrated spin system</a:t>
            </a:r>
            <a:endParaRPr lang="zh-CN" altLang="en-US" sz="48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B17C41-5137-391F-BC02-5B493089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69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卡通人物&#10;&#10;AI 生成的内容可能不正确。">
            <a:extLst>
              <a:ext uri="{FF2B5EF4-FFF2-40B4-BE49-F238E27FC236}">
                <a16:creationId xmlns:a16="http://schemas.microsoft.com/office/drawing/2014/main" id="{7C7644A3-AF05-9558-5E6C-76C5662FC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8" y="2958187"/>
            <a:ext cx="2060389" cy="2060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C9E0F-D676-4BED-8AB4-AAE2A7FD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86" y="61705"/>
            <a:ext cx="10515600" cy="1325563"/>
          </a:xfrm>
        </p:spPr>
        <p:txBody>
          <a:bodyPr/>
          <a:lstStyle/>
          <a:p>
            <a:r>
              <a:rPr lang="en-US" altLang="zh-CN"/>
              <a:t>Cooperators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F715-0D60-44E8-BECE-E4C8E8032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572" y="2013280"/>
            <a:ext cx="6005328" cy="1245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00" b="1" dirty="0"/>
              <a:t>Zi Yang Meng      </a:t>
            </a:r>
            <a:r>
              <a:rPr lang="en-US" altLang="zh-CN" sz="1700" dirty="0"/>
              <a:t>University  of Hongkong   Professor</a:t>
            </a:r>
          </a:p>
          <a:p>
            <a:pPr marL="0" indent="0">
              <a:buNone/>
            </a:pPr>
            <a:r>
              <a:rPr lang="en-US" altLang="zh-CN" sz="2200" b="1" dirty="0" err="1"/>
              <a:t>Menghan</a:t>
            </a:r>
            <a:r>
              <a:rPr lang="en-US" altLang="zh-CN" sz="2200" b="1" dirty="0"/>
              <a:t> Song </a:t>
            </a:r>
            <a:r>
              <a:rPr lang="en-US" altLang="zh-CN" sz="1700" dirty="0"/>
              <a:t>University  of Hongkong      Ph.D. Candidate </a:t>
            </a:r>
          </a:p>
          <a:p>
            <a:pPr marL="0" indent="0">
              <a:buNone/>
            </a:pPr>
            <a:endParaRPr lang="en-US" altLang="zh-CN" sz="17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5" name="Picture 10" descr="香港大学校徽- 堆糖，美图壁纸兴趣社区">
            <a:extLst>
              <a:ext uri="{FF2B5EF4-FFF2-40B4-BE49-F238E27FC236}">
                <a16:creationId xmlns:a16="http://schemas.microsoft.com/office/drawing/2014/main" id="{393642A7-2AB6-4C15-B35D-9B055878E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00" y="1481310"/>
            <a:ext cx="1218264" cy="137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r. Zi Yang Meng">
            <a:extLst>
              <a:ext uri="{FF2B5EF4-FFF2-40B4-BE49-F238E27FC236}">
                <a16:creationId xmlns:a16="http://schemas.microsoft.com/office/drawing/2014/main" id="{7118C0F0-3911-4CA0-A2AB-AA19AB003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656" y="1561537"/>
            <a:ext cx="1271886" cy="142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FF61A-02A3-1362-4AB7-DA2DF846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DF64C8-2B8F-7DEB-9837-1E6FB0233B83}"/>
              </a:ext>
            </a:extLst>
          </p:cNvPr>
          <p:cNvSpPr txBox="1">
            <a:spLocks/>
          </p:cNvSpPr>
          <p:nvPr/>
        </p:nvSpPr>
        <p:spPr>
          <a:xfrm>
            <a:off x="1957573" y="3598733"/>
            <a:ext cx="5461670" cy="31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b="1"/>
              <a:t>Yong Baek Kim    </a:t>
            </a:r>
            <a:r>
              <a:rPr lang="en-US" altLang="zh-CN" sz="1700"/>
              <a:t>University of Toronto       Professor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25" name="图片 24" descr="穿黑色衣服的男人在微笑&#10;&#10;AI 生成的内容可能不正确。">
            <a:extLst>
              <a:ext uri="{FF2B5EF4-FFF2-40B4-BE49-F238E27FC236}">
                <a16:creationId xmlns:a16="http://schemas.microsoft.com/office/drawing/2014/main" id="{57B2FB50-8017-A822-E4E8-28903C733F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767" y="3378018"/>
            <a:ext cx="1271886" cy="1288997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59ECD73-66C3-3C78-005C-00CA31C0A499}"/>
              </a:ext>
            </a:extLst>
          </p:cNvPr>
          <p:cNvSpPr txBox="1">
            <a:spLocks/>
          </p:cNvSpPr>
          <p:nvPr/>
        </p:nvSpPr>
        <p:spPr>
          <a:xfrm>
            <a:off x="1957573" y="4029119"/>
            <a:ext cx="5461670" cy="31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b="1" dirty="0"/>
              <a:t>Zhengbang Zhou </a:t>
            </a:r>
            <a:r>
              <a:rPr lang="en-US" altLang="zh-CN" sz="1700" dirty="0"/>
              <a:t>University of Toronto       Ph.D. Candidate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722FFAB-BAF0-F17D-913C-14C05FAFF9E0}"/>
              </a:ext>
            </a:extLst>
          </p:cNvPr>
          <p:cNvSpPr txBox="1">
            <a:spLocks/>
          </p:cNvSpPr>
          <p:nvPr/>
        </p:nvSpPr>
        <p:spPr>
          <a:xfrm>
            <a:off x="1957573" y="5644588"/>
            <a:ext cx="6207387" cy="31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b="1"/>
              <a:t>Felix Desrochers   </a:t>
            </a:r>
            <a:r>
              <a:rPr lang="en-US" altLang="zh-CN" sz="1900"/>
              <a:t>Harvard University           Postdoctoral Fellow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3874A94-DF80-37E7-8B6F-FFA0E97E1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656" y="5115523"/>
            <a:ext cx="1288997" cy="1288997"/>
          </a:xfrm>
          <a:prstGeom prst="rect">
            <a:avLst/>
          </a:prstGeom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2D835F72-B754-E1A7-7E81-F633B502B1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246" y="5115523"/>
            <a:ext cx="1520974" cy="14783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BF17024-CC1E-4D3B-47B0-05771C24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165" y="1561537"/>
            <a:ext cx="1100137" cy="146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C04504-3149-D5CD-3E72-6D935E57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F54D6-352B-FDF1-AD47-0381DCE4D47F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Entanglement depth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3D6EC03-8C4C-33A4-33A8-D2FCC792653C}"/>
              </a:ext>
            </a:extLst>
          </p:cNvPr>
          <p:cNvSpPr/>
          <p:nvPr/>
        </p:nvSpPr>
        <p:spPr>
          <a:xfrm>
            <a:off x="198656" y="4707584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8344DBB-D8B5-1652-BDFB-4E9D5BEFDDCE}"/>
                  </a:ext>
                </a:extLst>
              </p:cNvPr>
              <p:cNvSpPr txBox="1"/>
              <p:nvPr/>
            </p:nvSpPr>
            <p:spPr>
              <a:xfrm>
                <a:off x="119867" y="2231074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</m:oMath>
                </a14:m>
                <a:r>
                  <a:rPr lang="en-US" altLang="zh-CN"/>
                  <a:t>...</a:t>
                </a:r>
                <a:endParaRPr lang="zh-CN" altLang="en-US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8344DBB-D8B5-1652-BDFB-4E9D5BEFD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7" y="2231074"/>
                <a:ext cx="6448214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50AAC005-B631-47FC-1762-5CAC7FFBC615}"/>
              </a:ext>
            </a:extLst>
          </p:cNvPr>
          <p:cNvSpPr txBox="1"/>
          <p:nvPr/>
        </p:nvSpPr>
        <p:spPr>
          <a:xfrm>
            <a:off x="0" y="6356350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Nature Phys 12, 778–782 (2016)</a:t>
            </a:r>
            <a:endParaRPr lang="fr-FR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Luca Pezzé, et al.,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Phys. Rev. Lett. 102, 100401 (2009)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F7F0529-7D12-DB90-36B9-88B445A06113}"/>
              </a:ext>
            </a:extLst>
          </p:cNvPr>
          <p:cNvGrpSpPr/>
          <p:nvPr/>
        </p:nvGrpSpPr>
        <p:grpSpPr>
          <a:xfrm>
            <a:off x="274807" y="1952034"/>
            <a:ext cx="5010359" cy="197962"/>
            <a:chOff x="3147026" y="2015425"/>
            <a:chExt cx="5010359" cy="19796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D862131-255E-35C7-0712-CB300EA9F747}"/>
                </a:ext>
              </a:extLst>
            </p:cNvPr>
            <p:cNvSpPr/>
            <p:nvPr/>
          </p:nvSpPr>
          <p:spPr>
            <a:xfrm>
              <a:off x="3147026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D907447-A600-9D90-F884-2B371D76451F}"/>
                </a:ext>
              </a:extLst>
            </p:cNvPr>
            <p:cNvSpPr/>
            <p:nvPr/>
          </p:nvSpPr>
          <p:spPr>
            <a:xfrm>
              <a:off x="357848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CD1232B-88B0-FE3D-E135-83BEFA44ADB7}"/>
                </a:ext>
              </a:extLst>
            </p:cNvPr>
            <p:cNvSpPr/>
            <p:nvPr/>
          </p:nvSpPr>
          <p:spPr>
            <a:xfrm>
              <a:off x="40233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486D631-4E00-9F19-B18B-2140CC87ACBA}"/>
                </a:ext>
              </a:extLst>
            </p:cNvPr>
            <p:cNvSpPr/>
            <p:nvPr/>
          </p:nvSpPr>
          <p:spPr>
            <a:xfrm>
              <a:off x="44600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91E8DAC-ADEF-18C5-69C8-B1EC970474EB}"/>
                </a:ext>
              </a:extLst>
            </p:cNvPr>
            <p:cNvSpPr/>
            <p:nvPr/>
          </p:nvSpPr>
          <p:spPr>
            <a:xfrm>
              <a:off x="48967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3E28075-D73D-25DA-A922-DECEF0BB050D}"/>
                </a:ext>
              </a:extLst>
            </p:cNvPr>
            <p:cNvSpPr/>
            <p:nvPr/>
          </p:nvSpPr>
          <p:spPr>
            <a:xfrm>
              <a:off x="532818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8026298-0066-CD22-FDBA-95C6B6857F7D}"/>
                </a:ext>
              </a:extLst>
            </p:cNvPr>
            <p:cNvSpPr/>
            <p:nvPr/>
          </p:nvSpPr>
          <p:spPr>
            <a:xfrm>
              <a:off x="57730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3A61FE4C-8309-795A-0C4C-9B6CA90B3344}"/>
                </a:ext>
              </a:extLst>
            </p:cNvPr>
            <p:cNvSpPr/>
            <p:nvPr/>
          </p:nvSpPr>
          <p:spPr>
            <a:xfrm>
              <a:off x="62097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F1020C8A-C635-B0BC-9831-5D6A4FA0C264}"/>
                </a:ext>
              </a:extLst>
            </p:cNvPr>
            <p:cNvSpPr/>
            <p:nvPr/>
          </p:nvSpPr>
          <p:spPr>
            <a:xfrm>
              <a:off x="66464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A562577-F2B5-9AE4-56CC-1E1DE4034924}"/>
                </a:ext>
              </a:extLst>
            </p:cNvPr>
            <p:cNvSpPr/>
            <p:nvPr/>
          </p:nvSpPr>
          <p:spPr>
            <a:xfrm>
              <a:off x="707788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4D8C956D-3E98-8F05-E093-0620D568BECA}"/>
                </a:ext>
              </a:extLst>
            </p:cNvPr>
            <p:cNvSpPr/>
            <p:nvPr/>
          </p:nvSpPr>
          <p:spPr>
            <a:xfrm>
              <a:off x="75227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33FF82F-20E7-95E2-400E-F088CB8FED88}"/>
                </a:ext>
              </a:extLst>
            </p:cNvPr>
            <p:cNvSpPr/>
            <p:nvPr/>
          </p:nvSpPr>
          <p:spPr>
            <a:xfrm>
              <a:off x="79594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99E6986-1692-D4C2-814B-E5912D5D5796}"/>
              </a:ext>
            </a:extLst>
          </p:cNvPr>
          <p:cNvGrpSpPr/>
          <p:nvPr/>
        </p:nvGrpSpPr>
        <p:grpSpPr>
          <a:xfrm>
            <a:off x="190635" y="2828659"/>
            <a:ext cx="5214724" cy="270832"/>
            <a:chOff x="3062854" y="3115812"/>
            <a:chExt cx="5214724" cy="27083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9E44863-A73E-A01A-BBDA-13E4CED450A6}"/>
                </a:ext>
              </a:extLst>
            </p:cNvPr>
            <p:cNvSpPr/>
            <p:nvPr/>
          </p:nvSpPr>
          <p:spPr>
            <a:xfrm>
              <a:off x="3062854" y="3117851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9FACD84-E2CA-E077-E5A9-0D2B1CFBB2BB}"/>
                </a:ext>
              </a:extLst>
            </p:cNvPr>
            <p:cNvSpPr/>
            <p:nvPr/>
          </p:nvSpPr>
          <p:spPr>
            <a:xfrm>
              <a:off x="3172966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A879DA16-00ED-2B2B-CFEE-5D82EFEA631F}"/>
                </a:ext>
              </a:extLst>
            </p:cNvPr>
            <p:cNvSpPr/>
            <p:nvPr/>
          </p:nvSpPr>
          <p:spPr>
            <a:xfrm>
              <a:off x="360442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00A4ECA-566B-2ACA-AC4F-D07CD39FD064}"/>
                </a:ext>
              </a:extLst>
            </p:cNvPr>
            <p:cNvSpPr/>
            <p:nvPr/>
          </p:nvSpPr>
          <p:spPr>
            <a:xfrm>
              <a:off x="404926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71C99D7-C41D-A196-1343-75F7D61135A9}"/>
                </a:ext>
              </a:extLst>
            </p:cNvPr>
            <p:cNvSpPr/>
            <p:nvPr/>
          </p:nvSpPr>
          <p:spPr>
            <a:xfrm>
              <a:off x="448596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220E0CD-1234-96DC-8ACD-64F8EC64B126}"/>
                </a:ext>
              </a:extLst>
            </p:cNvPr>
            <p:cNvSpPr/>
            <p:nvPr/>
          </p:nvSpPr>
          <p:spPr>
            <a:xfrm>
              <a:off x="492266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1466D5F-86FB-0388-F0C1-8DDC43F141A4}"/>
                </a:ext>
              </a:extLst>
            </p:cNvPr>
            <p:cNvSpPr/>
            <p:nvPr/>
          </p:nvSpPr>
          <p:spPr>
            <a:xfrm>
              <a:off x="535412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23A0D688-2F5C-0A29-B24C-84C6033647FD}"/>
                </a:ext>
              </a:extLst>
            </p:cNvPr>
            <p:cNvSpPr/>
            <p:nvPr/>
          </p:nvSpPr>
          <p:spPr>
            <a:xfrm>
              <a:off x="579896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BCF81E78-1896-BFF2-2DB5-1FD88ABAA4A0}"/>
                </a:ext>
              </a:extLst>
            </p:cNvPr>
            <p:cNvSpPr/>
            <p:nvPr/>
          </p:nvSpPr>
          <p:spPr>
            <a:xfrm>
              <a:off x="623566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67E5EB9-1C48-2818-EAB5-3FEC05239700}"/>
                </a:ext>
              </a:extLst>
            </p:cNvPr>
            <p:cNvSpPr/>
            <p:nvPr/>
          </p:nvSpPr>
          <p:spPr>
            <a:xfrm>
              <a:off x="667236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35062F0B-C0D9-99CC-6073-24B0E82019D0}"/>
                </a:ext>
              </a:extLst>
            </p:cNvPr>
            <p:cNvSpPr/>
            <p:nvPr/>
          </p:nvSpPr>
          <p:spPr>
            <a:xfrm>
              <a:off x="7103823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B95B464F-B499-A5E4-523D-9E4578A2E49F}"/>
                </a:ext>
              </a:extLst>
            </p:cNvPr>
            <p:cNvSpPr/>
            <p:nvPr/>
          </p:nvSpPr>
          <p:spPr>
            <a:xfrm>
              <a:off x="7548663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A804537-26D6-748C-0AB8-54A0CD3BF330}"/>
                </a:ext>
              </a:extLst>
            </p:cNvPr>
            <p:cNvSpPr/>
            <p:nvPr/>
          </p:nvSpPr>
          <p:spPr>
            <a:xfrm>
              <a:off x="7985363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15A2EC3D-14DF-8B55-3CD6-C53FE87D322C}"/>
                </a:ext>
              </a:extLst>
            </p:cNvPr>
            <p:cNvSpPr/>
            <p:nvPr/>
          </p:nvSpPr>
          <p:spPr>
            <a:xfrm>
              <a:off x="3975419" y="3115816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9A21318-C27F-2793-D350-B4B8E7E3589D}"/>
                </a:ext>
              </a:extLst>
            </p:cNvPr>
            <p:cNvSpPr/>
            <p:nvPr/>
          </p:nvSpPr>
          <p:spPr>
            <a:xfrm>
              <a:off x="4849476" y="3115815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79042DB4-0004-B195-8B86-24415FB4F0D0}"/>
                </a:ext>
              </a:extLst>
            </p:cNvPr>
            <p:cNvSpPr/>
            <p:nvPr/>
          </p:nvSpPr>
          <p:spPr>
            <a:xfrm>
              <a:off x="5706193" y="3115814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A7A223DA-B12D-89BF-4793-0DA0BF8BB697}"/>
                </a:ext>
              </a:extLst>
            </p:cNvPr>
            <p:cNvSpPr/>
            <p:nvPr/>
          </p:nvSpPr>
          <p:spPr>
            <a:xfrm>
              <a:off x="6572682" y="3115813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F844E9CB-3A92-7EBD-14F1-6004F3C57204}"/>
                </a:ext>
              </a:extLst>
            </p:cNvPr>
            <p:cNvSpPr/>
            <p:nvPr/>
          </p:nvSpPr>
          <p:spPr>
            <a:xfrm>
              <a:off x="7472687" y="3115812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A28CCD40-494C-5950-E20D-5ADBCD4B6972}"/>
              </a:ext>
            </a:extLst>
          </p:cNvPr>
          <p:cNvGrpSpPr/>
          <p:nvPr/>
        </p:nvGrpSpPr>
        <p:grpSpPr>
          <a:xfrm>
            <a:off x="190635" y="3806690"/>
            <a:ext cx="5214724" cy="268793"/>
            <a:chOff x="3062854" y="3974927"/>
            <a:chExt cx="5214724" cy="268793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EEEFF0E-45AE-96D2-A5AB-C05B6B5182E6}"/>
                </a:ext>
              </a:extLst>
            </p:cNvPr>
            <p:cNvSpPr/>
            <p:nvPr/>
          </p:nvSpPr>
          <p:spPr>
            <a:xfrm>
              <a:off x="3147026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AB6F6CB-22B8-4CB0-B43C-3FAB82A76662}"/>
                </a:ext>
              </a:extLst>
            </p:cNvPr>
            <p:cNvSpPr/>
            <p:nvPr/>
          </p:nvSpPr>
          <p:spPr>
            <a:xfrm>
              <a:off x="357848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8331C189-0635-41E1-6374-CEE225787F95}"/>
                </a:ext>
              </a:extLst>
            </p:cNvPr>
            <p:cNvSpPr/>
            <p:nvPr/>
          </p:nvSpPr>
          <p:spPr>
            <a:xfrm>
              <a:off x="402332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FD74AF1-1177-2E21-13E3-BC5420178E8A}"/>
                </a:ext>
              </a:extLst>
            </p:cNvPr>
            <p:cNvSpPr/>
            <p:nvPr/>
          </p:nvSpPr>
          <p:spPr>
            <a:xfrm>
              <a:off x="446002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13D169EC-E6B3-67DA-4660-E77A0BA8F4B1}"/>
                </a:ext>
              </a:extLst>
            </p:cNvPr>
            <p:cNvSpPr/>
            <p:nvPr/>
          </p:nvSpPr>
          <p:spPr>
            <a:xfrm>
              <a:off x="489672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71E757B-62F4-4217-0B50-D0D27D2DE218}"/>
                </a:ext>
              </a:extLst>
            </p:cNvPr>
            <p:cNvSpPr/>
            <p:nvPr/>
          </p:nvSpPr>
          <p:spPr>
            <a:xfrm>
              <a:off x="532818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B56E52C-AC30-1D09-9282-4E3F9BFE7FEC}"/>
                </a:ext>
              </a:extLst>
            </p:cNvPr>
            <p:cNvSpPr/>
            <p:nvPr/>
          </p:nvSpPr>
          <p:spPr>
            <a:xfrm>
              <a:off x="577302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720D74D4-27A4-D9FB-2233-D293157571C9}"/>
                </a:ext>
              </a:extLst>
            </p:cNvPr>
            <p:cNvSpPr/>
            <p:nvPr/>
          </p:nvSpPr>
          <p:spPr>
            <a:xfrm>
              <a:off x="620972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55F54D61-A1AF-142B-1D2E-77D71DD7B5F9}"/>
                </a:ext>
              </a:extLst>
            </p:cNvPr>
            <p:cNvSpPr/>
            <p:nvPr/>
          </p:nvSpPr>
          <p:spPr>
            <a:xfrm>
              <a:off x="664642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5AEC7DC-C774-0530-0CE2-C2A4D13AF971}"/>
                </a:ext>
              </a:extLst>
            </p:cNvPr>
            <p:cNvSpPr/>
            <p:nvPr/>
          </p:nvSpPr>
          <p:spPr>
            <a:xfrm>
              <a:off x="7077883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7D4DD90F-779C-D53B-12DA-65A41997AEF1}"/>
                </a:ext>
              </a:extLst>
            </p:cNvPr>
            <p:cNvSpPr/>
            <p:nvPr/>
          </p:nvSpPr>
          <p:spPr>
            <a:xfrm>
              <a:off x="7522723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A9138474-0B74-3066-3D89-15A4C287E79C}"/>
                </a:ext>
              </a:extLst>
            </p:cNvPr>
            <p:cNvSpPr/>
            <p:nvPr/>
          </p:nvSpPr>
          <p:spPr>
            <a:xfrm>
              <a:off x="7959423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CC83CDB3-A104-4F78-2523-5E065360DFBC}"/>
                </a:ext>
              </a:extLst>
            </p:cNvPr>
            <p:cNvSpPr/>
            <p:nvPr/>
          </p:nvSpPr>
          <p:spPr>
            <a:xfrm>
              <a:off x="3062854" y="3974927"/>
              <a:ext cx="5214724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84D1CD2-3023-310E-9DEA-34AAC8A5D760}"/>
                  </a:ext>
                </a:extLst>
              </p:cNvPr>
              <p:cNvSpPr txBox="1"/>
              <p:nvPr/>
            </p:nvSpPr>
            <p:spPr>
              <a:xfrm>
                <a:off x="119867" y="3275201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</m:oMath>
                </a14:m>
                <a:r>
                  <a:rPr lang="en-US" altLang="zh-CN"/>
                  <a:t>...</a:t>
                </a:r>
                <a:endParaRPr lang="zh-CN" altLang="en-US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84D1CD2-3023-310E-9DEA-34AAC8A5D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7" y="3275201"/>
                <a:ext cx="6448214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81C35F1-138F-406E-8771-ED5669CAA4DD}"/>
                  </a:ext>
                </a:extLst>
              </p:cNvPr>
              <p:cNvSpPr txBox="1"/>
              <p:nvPr/>
            </p:nvSpPr>
            <p:spPr>
              <a:xfrm>
                <a:off x="139338" y="4213692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↑↑↑↑…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↓↓↓↓…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81C35F1-138F-406E-8771-ED5669CA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8" y="4213692"/>
                <a:ext cx="6448214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1C13A79A-2FE0-85BE-E645-E3511E4239AA}"/>
              </a:ext>
            </a:extLst>
          </p:cNvPr>
          <p:cNvGrpSpPr/>
          <p:nvPr/>
        </p:nvGrpSpPr>
        <p:grpSpPr>
          <a:xfrm>
            <a:off x="274807" y="4736463"/>
            <a:ext cx="5010359" cy="197962"/>
            <a:chOff x="3147026" y="2015425"/>
            <a:chExt cx="5010359" cy="197962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7F861306-61D6-D0E8-FBAB-1DB2C8931BDB}"/>
                </a:ext>
              </a:extLst>
            </p:cNvPr>
            <p:cNvSpPr/>
            <p:nvPr/>
          </p:nvSpPr>
          <p:spPr>
            <a:xfrm>
              <a:off x="3147026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AAA559A4-5EEC-D864-6F27-11F70CB08889}"/>
                </a:ext>
              </a:extLst>
            </p:cNvPr>
            <p:cNvSpPr/>
            <p:nvPr/>
          </p:nvSpPr>
          <p:spPr>
            <a:xfrm>
              <a:off x="357848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A604C319-4A5E-DE04-BB32-565BAB6DC853}"/>
                </a:ext>
              </a:extLst>
            </p:cNvPr>
            <p:cNvSpPr/>
            <p:nvPr/>
          </p:nvSpPr>
          <p:spPr>
            <a:xfrm>
              <a:off x="40233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B27A0C9-1CCB-FBB4-2FA6-01E77B4B833C}"/>
                </a:ext>
              </a:extLst>
            </p:cNvPr>
            <p:cNvSpPr/>
            <p:nvPr/>
          </p:nvSpPr>
          <p:spPr>
            <a:xfrm>
              <a:off x="44600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2828BA92-CAA7-E37C-9A74-1A6EA6ABA87B}"/>
                </a:ext>
              </a:extLst>
            </p:cNvPr>
            <p:cNvSpPr/>
            <p:nvPr/>
          </p:nvSpPr>
          <p:spPr>
            <a:xfrm>
              <a:off x="48967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E4A7FEBF-5BB1-E0F0-D723-F00D1DF53C61}"/>
                </a:ext>
              </a:extLst>
            </p:cNvPr>
            <p:cNvSpPr/>
            <p:nvPr/>
          </p:nvSpPr>
          <p:spPr>
            <a:xfrm>
              <a:off x="532818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D3931886-7412-2B2E-038E-88F9FACB0FDC}"/>
                </a:ext>
              </a:extLst>
            </p:cNvPr>
            <p:cNvSpPr/>
            <p:nvPr/>
          </p:nvSpPr>
          <p:spPr>
            <a:xfrm>
              <a:off x="57730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9F5340E-6A40-7D94-4FA8-162497115623}"/>
                </a:ext>
              </a:extLst>
            </p:cNvPr>
            <p:cNvSpPr/>
            <p:nvPr/>
          </p:nvSpPr>
          <p:spPr>
            <a:xfrm>
              <a:off x="62097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32171383-11DE-2B07-FE75-994ED7ECDD50}"/>
                </a:ext>
              </a:extLst>
            </p:cNvPr>
            <p:cNvSpPr/>
            <p:nvPr/>
          </p:nvSpPr>
          <p:spPr>
            <a:xfrm>
              <a:off x="66464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301C17A-7800-7703-FCAE-16C57A585891}"/>
                </a:ext>
              </a:extLst>
            </p:cNvPr>
            <p:cNvSpPr/>
            <p:nvPr/>
          </p:nvSpPr>
          <p:spPr>
            <a:xfrm>
              <a:off x="707788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A3EAEF3F-CFE7-CAE9-8598-8C1106397EE5}"/>
                </a:ext>
              </a:extLst>
            </p:cNvPr>
            <p:cNvSpPr/>
            <p:nvPr/>
          </p:nvSpPr>
          <p:spPr>
            <a:xfrm>
              <a:off x="75227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8B8ADCC5-C5E6-3550-29A7-04DBABB1C2A4}"/>
                </a:ext>
              </a:extLst>
            </p:cNvPr>
            <p:cNvSpPr/>
            <p:nvPr/>
          </p:nvSpPr>
          <p:spPr>
            <a:xfrm>
              <a:off x="79594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83803234-5C02-3969-169D-149210993E49}"/>
              </a:ext>
            </a:extLst>
          </p:cNvPr>
          <p:cNvSpPr/>
          <p:nvPr/>
        </p:nvSpPr>
        <p:spPr>
          <a:xfrm>
            <a:off x="1102866" y="4695109"/>
            <a:ext cx="4226262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E31C091-F625-6ACB-55DF-4E2101E2093B}"/>
                  </a:ext>
                </a:extLst>
              </p:cNvPr>
              <p:cNvSpPr txBox="1"/>
              <p:nvPr/>
            </p:nvSpPr>
            <p:spPr>
              <a:xfrm>
                <a:off x="139338" y="5088462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↑↓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↓↑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↑↑↑↑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↓↓↓↓…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E31C091-F625-6ACB-55DF-4E2101E20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8" y="5088462"/>
                <a:ext cx="6448214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312C16F-3435-AF9F-BC56-A989D2C5952A}"/>
                  </a:ext>
                </a:extLst>
              </p:cNvPr>
              <p:cNvSpPr txBox="1"/>
              <p:nvPr/>
            </p:nvSpPr>
            <p:spPr>
              <a:xfrm>
                <a:off x="119867" y="966298"/>
                <a:ext cx="4873410" cy="2879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-producibility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Entanglement depth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means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312C16F-3435-AF9F-BC56-A989D2C59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7" y="966298"/>
                <a:ext cx="4873410" cy="2879443"/>
              </a:xfrm>
              <a:prstGeom prst="rect">
                <a:avLst/>
              </a:prstGeom>
              <a:blipFill>
                <a:blip r:embed="rId9"/>
                <a:stretch>
                  <a:fillRect l="-1377" t="-127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358416F-01C0-8E04-29FC-7C6EA6D2C82A}"/>
                  </a:ext>
                </a:extLst>
              </p:cNvPr>
              <p:cNvSpPr txBox="1"/>
              <p:nvPr/>
            </p:nvSpPr>
            <p:spPr>
              <a:xfrm>
                <a:off x="5576006" y="966298"/>
                <a:ext cx="6615994" cy="436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Quantum Fisher information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;</m:t>
                      </m:r>
                      <m:acc>
                        <m:accPr>
                          <m:chr m:val="̂"/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)]=2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)/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func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Also,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4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𝜔𝛽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𝛽𝜔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</m:acc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358416F-01C0-8E04-29FC-7C6EA6D2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006" y="966298"/>
                <a:ext cx="6615994" cy="4363630"/>
              </a:xfrm>
              <a:prstGeom prst="rect">
                <a:avLst/>
              </a:prstGeom>
              <a:blipFill>
                <a:blip r:embed="rId10"/>
                <a:stretch>
                  <a:fillRect l="-1014" t="-8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04239AA-AB16-89C9-3579-2DFBB8A3ADE2}"/>
              </a:ext>
            </a:extLst>
          </p:cNvPr>
          <p:cNvCxnSpPr/>
          <p:nvPr/>
        </p:nvCxnSpPr>
        <p:spPr>
          <a:xfrm>
            <a:off x="5538709" y="947248"/>
            <a:ext cx="0" cy="4720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745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AF53-EC39-6D29-B9D6-0C160088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132B22B2-AA7A-C982-A5DE-97C960BB2A1E}"/>
              </a:ext>
            </a:extLst>
          </p:cNvPr>
          <p:cNvSpPr txBox="1"/>
          <p:nvPr/>
        </p:nvSpPr>
        <p:spPr>
          <a:xfrm>
            <a:off x="5752617" y="843676"/>
            <a:ext cx="6153918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sz="1600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8E6624-96EC-DE33-C240-A56BFDE3A4DB}"/>
              </a:ext>
            </a:extLst>
          </p:cNvPr>
          <p:cNvSpPr txBox="1"/>
          <p:nvPr/>
        </p:nvSpPr>
        <p:spPr>
          <a:xfrm>
            <a:off x="285465" y="843677"/>
            <a:ext cx="5372979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C8B09C-6675-F5D8-FB39-8FD2A352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17C00-F31C-4EDB-C830-C97D3F558B7F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64B0F8-0C68-BDCE-AC2E-FB896753D93A}"/>
              </a:ext>
            </a:extLst>
          </p:cNvPr>
          <p:cNvSpPr txBox="1"/>
          <p:nvPr/>
        </p:nvSpPr>
        <p:spPr>
          <a:xfrm>
            <a:off x="285465" y="5689187"/>
            <a:ext cx="4113307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Heisenberg spin chain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V. Menon,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Phys. Rev. B 107, 054422 (2023)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Scheie,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Phys. Rev. B .103, 224434 (2021)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FA4C345-D2BA-FF37-544E-B794CDA08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227" y="1022783"/>
            <a:ext cx="4056927" cy="188662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62E62D0-F4BE-BFB1-66E8-0287415E03AD}"/>
              </a:ext>
            </a:extLst>
          </p:cNvPr>
          <p:cNvSpPr txBox="1"/>
          <p:nvPr/>
        </p:nvSpPr>
        <p:spPr>
          <a:xfrm>
            <a:off x="5752617" y="5906600"/>
            <a:ext cx="3856920" cy="11387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Triangle Lattice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O. Scheie,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Nat. Phys. 20, 74–81 (2024)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224FB5C-2C56-EEC5-375B-36E71C9ECD7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31295" y="3296236"/>
            <a:ext cx="2943224" cy="208239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4564884-76F6-7923-EB5F-2C951E4603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8691" y="3542956"/>
            <a:ext cx="2649475" cy="190326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47365D3-B7EA-E440-F4F7-60AC6701C5F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0281" y="3010950"/>
            <a:ext cx="3657656" cy="267823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CBC1CC31-8AA0-54CD-E83B-C41F63EF2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9642" y="984631"/>
            <a:ext cx="2016769" cy="188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4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C8691-A81B-8A46-6B37-358A08F2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8F09D-067B-6BDA-34EF-878E0B90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11D6A-B576-454C-6847-771CD134F2DA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Outlook</a:t>
            </a:r>
            <a:endParaRPr lang="zh-CN" altLang="en-US" b="1">
              <a:solidFill>
                <a:schemeClr val="bg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2CFFAA-2A5D-AAEC-DF9F-059308BC858E}"/>
              </a:ext>
            </a:extLst>
          </p:cNvPr>
          <p:cNvGrpSpPr/>
          <p:nvPr/>
        </p:nvGrpSpPr>
        <p:grpSpPr>
          <a:xfrm>
            <a:off x="284935" y="748621"/>
            <a:ext cx="5489470" cy="5486400"/>
            <a:chOff x="284935" y="766551"/>
            <a:chExt cx="5489470" cy="5486400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2A709DC-7F9B-426B-4511-E8B54D97231B}"/>
                </a:ext>
              </a:extLst>
            </p:cNvPr>
            <p:cNvSpPr txBox="1"/>
            <p:nvPr/>
          </p:nvSpPr>
          <p:spPr>
            <a:xfrm>
              <a:off x="288005" y="766551"/>
              <a:ext cx="5486400" cy="5486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pic>
          <p:nvPicPr>
            <p:cNvPr id="20" name="图片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95B53857-F70A-29BE-F8BB-3507E6003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476826">
              <a:off x="2108390" y="1225879"/>
              <a:ext cx="2396335" cy="374307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1DFE0DE-50F8-5A99-1302-C6E663CC9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6745" y="4565176"/>
              <a:ext cx="4428920" cy="1526273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E62FA5B-9B08-ABC7-D11D-08A398BC0B56}"/>
                </a:ext>
              </a:extLst>
            </p:cNvPr>
            <p:cNvSpPr txBox="1"/>
            <p:nvPr/>
          </p:nvSpPr>
          <p:spPr>
            <a:xfrm>
              <a:off x="284935" y="850731"/>
              <a:ext cx="37375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 Pyrochlore lattice</a:t>
              </a:r>
              <a:b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fr-FR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Nat Commun 17, 7975 (2026) 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59746A-B715-A375-E12C-DDF9FED81076}"/>
              </a:ext>
            </a:extLst>
          </p:cNvPr>
          <p:cNvGrpSpPr/>
          <p:nvPr/>
        </p:nvGrpSpPr>
        <p:grpSpPr>
          <a:xfrm>
            <a:off x="6008213" y="755374"/>
            <a:ext cx="5486400" cy="5486400"/>
            <a:chOff x="6008213" y="755374"/>
            <a:chExt cx="5486400" cy="548640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DB81664-E7E4-6457-3314-E13CBCCF87FD}"/>
                </a:ext>
              </a:extLst>
            </p:cNvPr>
            <p:cNvSpPr txBox="1"/>
            <p:nvPr/>
          </p:nvSpPr>
          <p:spPr>
            <a:xfrm>
              <a:off x="6008213" y="755374"/>
              <a:ext cx="5486400" cy="5486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3D694BA-C913-ADD0-2DAE-487B24CBB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475829" y="4303722"/>
              <a:ext cx="4551168" cy="1787727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1913838-F82F-3B1D-7B45-C9EA2E59ADC1}"/>
                </a:ext>
              </a:extLst>
            </p:cNvPr>
            <p:cNvSpPr txBox="1"/>
            <p:nvPr/>
          </p:nvSpPr>
          <p:spPr>
            <a:xfrm>
              <a:off x="6008213" y="826744"/>
              <a:ext cx="39008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 </a:t>
              </a:r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Balents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-Fisher-Girvin (BFG) model</a:t>
              </a:r>
              <a:b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arXiv:2603.19951 (2026) </a:t>
              </a:r>
            </a:p>
          </p:txBody>
        </p:sp>
        <p:pic>
          <p:nvPicPr>
            <p:cNvPr id="33" name="图片 32">
              <a:hlinkClick r:id="rId7" action="ppaction://hlinksldjump"/>
              <a:extLst>
                <a:ext uri="{FF2B5EF4-FFF2-40B4-BE49-F238E27FC236}">
                  <a16:creationId xmlns:a16="http://schemas.microsoft.com/office/drawing/2014/main" id="{922F801D-F3D2-C936-7257-0B6B64142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75592" y="1891113"/>
              <a:ext cx="2152115" cy="2412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374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FD468-1276-1453-4164-BD20A218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D17AA-05AE-52C2-E318-C783E7D8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59327-9EF9-4005-4418-CF4910380E99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Pyrochlore lattice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2C964D7-F2C7-FDF6-D6EF-34A1641AE9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2206" y="491683"/>
            <a:ext cx="2396335" cy="37430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06D242-4DCE-81DC-111D-A116BC6880B6}"/>
                  </a:ext>
                </a:extLst>
              </p:cNvPr>
              <p:cNvSpPr txBox="1"/>
              <p:nvPr/>
            </p:nvSpPr>
            <p:spPr>
              <a:xfrm>
                <a:off x="0" y="627587"/>
                <a:ext cx="4017318" cy="7036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06D242-4DCE-81DC-111D-A116BC688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7587"/>
                <a:ext cx="4017318" cy="7036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>
            <a:extLst>
              <a:ext uri="{FF2B5EF4-FFF2-40B4-BE49-F238E27FC236}">
                <a16:creationId xmlns:a16="http://schemas.microsoft.com/office/drawing/2014/main" id="{6F4A2DB5-94DE-09A7-7EBA-89B963B5CFE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540" y="3368158"/>
            <a:ext cx="9045442" cy="3117199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A0A3B2F-D334-8213-19D5-8567ABC1CB7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10400" y="1399936"/>
            <a:ext cx="2021281" cy="1814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202A3DF-8F25-17CE-43E5-220F0CA60C0E}"/>
                  </a:ext>
                </a:extLst>
              </p:cNvPr>
              <p:cNvSpPr txBox="1"/>
              <p:nvPr/>
            </p:nvSpPr>
            <p:spPr>
              <a:xfrm>
                <a:off x="-23684" y="1605742"/>
                <a:ext cx="6151666" cy="1958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>
                    <a:latin typeface="Cambria Math" panose="02040503050406030204" pitchFamily="18" charset="0"/>
                  </a:rPr>
                  <a:t>Ring Exchange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Quantum</m:t>
                    </m:r>
                  </m:oMath>
                </a14:m>
                <a:r>
                  <a:rPr lang="en-US" altLang="zh-CN" b="0">
                    <a:latin typeface="Cambria Math" panose="02040503050406030204" pitchFamily="18" charset="0"/>
                  </a:rPr>
                  <a:t> </a:t>
                </a:r>
                <a:r>
                  <a:rPr lang="en-US" altLang="zh-CN">
                    <a:latin typeface="Cambria Math" panose="02040503050406030204" pitchFamily="18" charset="0"/>
                  </a:rPr>
                  <a:t>S</a:t>
                </a:r>
                <a:r>
                  <a:rPr lang="en-US" altLang="zh-CN" b="0">
                    <a:latin typeface="Cambria Math" panose="02040503050406030204" pitchFamily="18" charset="0"/>
                  </a:rPr>
                  <a:t>pin Ice regime</a:t>
                </a:r>
                <a:r>
                  <a:rPr lang="en-US" altLang="zh-CN">
                    <a:latin typeface="Cambria Math" panose="02040503050406030204" pitchFamily="18" charset="0"/>
                  </a:rPr>
                  <a:t>:</a:t>
                </a:r>
                <a:endParaRPr lang="en-US" altLang="zh-CN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=0.045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~0.0010935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202A3DF-8F25-17CE-43E5-220F0CA60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684" y="1605742"/>
                <a:ext cx="6151666" cy="1958293"/>
              </a:xfrm>
              <a:prstGeom prst="rect">
                <a:avLst/>
              </a:prstGeom>
              <a:blipFill>
                <a:blip r:embed="rId7"/>
                <a:stretch>
                  <a:fillRect l="-793" t="-1863" b="-3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D914B951-7D15-E538-7C4A-54B6B0659E28}"/>
              </a:ext>
            </a:extLst>
          </p:cNvPr>
          <p:cNvSpPr txBox="1"/>
          <p:nvPr/>
        </p:nvSpPr>
        <p:spPr>
          <a:xfrm>
            <a:off x="62326" y="6289480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Leon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Balents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Phys. Rev. B 69, 064404 (2004)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Johannes Reuther,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Phys. Rev. B .111, 134442 (2025)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6BC6D89-38BB-3FD6-EBBD-7756CA8243C5}"/>
              </a:ext>
            </a:extLst>
          </p:cNvPr>
          <p:cNvSpPr txBox="1"/>
          <p:nvPr/>
        </p:nvSpPr>
        <p:spPr>
          <a:xfrm>
            <a:off x="127159" y="3639701"/>
            <a:ext cx="3990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problem: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diagonalization</a:t>
            </a:r>
          </a:p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Gauge mean-field theory calculation</a:t>
            </a:r>
            <a:endParaRPr lang="zh-CN" altLang="en-US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908667A-CBAD-B6CD-88E3-A7E9603B8EFF}"/>
              </a:ext>
            </a:extLst>
          </p:cNvPr>
          <p:cNvSpPr txBox="1"/>
          <p:nvPr/>
        </p:nvSpPr>
        <p:spPr>
          <a:xfrm>
            <a:off x="5231605" y="3639701"/>
            <a:ext cx="3990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problem free: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SSE-QMC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3F20A66-4FF8-AE2B-E5E9-6BF45DE933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4768" y="4234759"/>
            <a:ext cx="2071210" cy="2022108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851356B-7E00-40B0-7521-E36287F50189}"/>
              </a:ext>
            </a:extLst>
          </p:cNvPr>
          <p:cNvGrpSpPr/>
          <p:nvPr/>
        </p:nvGrpSpPr>
        <p:grpSpPr>
          <a:xfrm>
            <a:off x="4739694" y="4727541"/>
            <a:ext cx="1517394" cy="307777"/>
            <a:chOff x="4828713" y="891328"/>
            <a:chExt cx="1517394" cy="307777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73E6813-66B6-D60C-E241-04DB27A6A54C}"/>
                </a:ext>
              </a:extLst>
            </p:cNvPr>
            <p:cNvGrpSpPr/>
            <p:nvPr/>
          </p:nvGrpSpPr>
          <p:grpSpPr>
            <a:xfrm>
              <a:off x="4828713" y="891328"/>
              <a:ext cx="1517394" cy="307777"/>
              <a:chOff x="5108594" y="676921"/>
              <a:chExt cx="1517394" cy="3077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CFE3A3EE-F058-962A-C437-05C4E7681F51}"/>
                      </a:ext>
                    </a:extLst>
                  </p:cNvPr>
                  <p:cNvSpPr txBox="1"/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CFE3A3EE-F058-962A-C437-05C4E7681F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FBA5E7D7-A8A7-B5FE-7619-DB6A554F46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338023" y="712291"/>
                <a:ext cx="295792" cy="265584"/>
              </a:xfrm>
              <a:prstGeom prst="rect">
                <a:avLst/>
              </a:prstGeom>
            </p:spPr>
          </p:pic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54CA3BF-1CA2-2A86-2A2C-59A801C05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815851" y="917899"/>
              <a:ext cx="295200" cy="265052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049121A-4E2F-0EAB-3D2E-C76E89E49240}"/>
              </a:ext>
            </a:extLst>
          </p:cNvPr>
          <p:cNvGrpSpPr/>
          <p:nvPr/>
        </p:nvGrpSpPr>
        <p:grpSpPr>
          <a:xfrm>
            <a:off x="288798" y="5421537"/>
            <a:ext cx="1517394" cy="307777"/>
            <a:chOff x="4828713" y="891328"/>
            <a:chExt cx="1517394" cy="307777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8A33DDE-0CC2-BB73-4A31-76C4838F8179}"/>
                </a:ext>
              </a:extLst>
            </p:cNvPr>
            <p:cNvGrpSpPr/>
            <p:nvPr/>
          </p:nvGrpSpPr>
          <p:grpSpPr>
            <a:xfrm>
              <a:off x="4828713" y="891328"/>
              <a:ext cx="1517394" cy="307777"/>
              <a:chOff x="5108594" y="676921"/>
              <a:chExt cx="1517394" cy="3077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8702374B-5F27-DB1C-8937-9F4693F11C00}"/>
                      </a:ext>
                    </a:extLst>
                  </p:cNvPr>
                  <p:cNvSpPr txBox="1"/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8702374B-5F27-DB1C-8937-9F4693F11C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3A0A0305-DF9D-4670-2BE8-705EA675ED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338023" y="712291"/>
                <a:ext cx="295792" cy="265584"/>
              </a:xfrm>
              <a:prstGeom prst="rect">
                <a:avLst/>
              </a:prstGeom>
            </p:spPr>
          </p:pic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59A46F6-3896-60D5-1E53-B5EA1F738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815851" y="917899"/>
              <a:ext cx="295200" cy="265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471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B73B-8642-06E7-25B9-93D70685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31D506-9E13-5B37-FB06-2377086A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5B53C-ACFB-EA35-17C7-4EB6E9F351A5}"/>
                  </a:ext>
                </a:extLst>
              </p:cNvPr>
              <p:cNvSpPr txBox="1"/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Method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bg1"/>
                    </a:solidFill>
                  </a:rPr>
                  <a:t>)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5B53C-ACFB-EA35-17C7-4EB6E9F35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blipFill>
                <a:blip r:embed="rId3"/>
                <a:stretch>
                  <a:fillRect l="-1000" t="-6452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AC79B12-BB88-344A-EE42-EEF7B5562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393" y="995771"/>
            <a:ext cx="6459923" cy="5152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E322DCA-2CFB-E16A-63AF-C9AB37A45537}"/>
                  </a:ext>
                </a:extLst>
              </p:cNvPr>
              <p:cNvSpPr txBox="1"/>
              <p:nvPr/>
            </p:nvSpPr>
            <p:spPr>
              <a:xfrm>
                <a:off x="-750051" y="337022"/>
                <a:ext cx="7320801" cy="971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sub>
                            <m:sup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e>
                                  <m:nary>
                                    <m:naryPr>
                                      <m:chr m:val="∏"/>
                                      <m:subHide m:val="on"/>
                                      <m:supHide m:val="on"/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(−</m:t>
                                          </m:r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E322DCA-2CFB-E16A-63AF-C9AB37A45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0051" y="337022"/>
                <a:ext cx="7320801" cy="971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5F415D42-D27E-78AD-F107-DB19A818EE9B}"/>
              </a:ext>
            </a:extLst>
          </p:cNvPr>
          <p:cNvGrpSpPr/>
          <p:nvPr/>
        </p:nvGrpSpPr>
        <p:grpSpPr>
          <a:xfrm>
            <a:off x="714138" y="1367193"/>
            <a:ext cx="5780762" cy="1189131"/>
            <a:chOff x="245388" y="1647100"/>
            <a:chExt cx="5780762" cy="118913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E11939D-E5E7-5495-D043-5D7A83786F0F}"/>
                </a:ext>
              </a:extLst>
            </p:cNvPr>
            <p:cNvSpPr txBox="1"/>
            <p:nvPr/>
          </p:nvSpPr>
          <p:spPr>
            <a:xfrm>
              <a:off x="245388" y="1647100"/>
              <a:ext cx="57807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Directed loop (DL) update: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E2B905F-13D6-F70E-9F8B-8661B438AC81}"/>
                    </a:ext>
                  </a:extLst>
                </p:cNvPr>
                <p:cNvSpPr txBox="1"/>
                <p:nvPr/>
              </p:nvSpPr>
              <p:spPr>
                <a:xfrm>
                  <a:off x="1188764" y="2144291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E2B905F-13D6-F70E-9F8B-8661B438A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764" y="2144291"/>
                  <a:ext cx="1064712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E447252-0C6A-B6A8-C219-50D4B09870ED}"/>
                </a:ext>
              </a:extLst>
            </p:cNvPr>
            <p:cNvCxnSpPr>
              <a:cxnSpLocks/>
            </p:cNvCxnSpPr>
            <p:nvPr/>
          </p:nvCxnSpPr>
          <p:spPr>
            <a:xfrm>
              <a:off x="2114897" y="2415104"/>
              <a:ext cx="970767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E3E2096-24B1-D626-F18B-FA54FC875182}"/>
                    </a:ext>
                  </a:extLst>
                </p:cNvPr>
                <p:cNvSpPr txBox="1"/>
                <p:nvPr/>
              </p:nvSpPr>
              <p:spPr>
                <a:xfrm>
                  <a:off x="1833758" y="2000200"/>
                  <a:ext cx="16496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pair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E3E2096-24B1-D626-F18B-FA54FC875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3758" y="2000200"/>
                  <a:ext cx="164960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333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0BB08D-5BE9-559A-2DE0-C3A97C9B4F0A}"/>
                </a:ext>
              </a:extLst>
            </p:cNvPr>
            <p:cNvSpPr txBox="1"/>
            <p:nvPr/>
          </p:nvSpPr>
          <p:spPr>
            <a:xfrm>
              <a:off x="2019736" y="2466899"/>
              <a:ext cx="1649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evolution 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022408F-4665-AA2A-235B-129921E53F9C}"/>
                    </a:ext>
                  </a:extLst>
                </p:cNvPr>
                <p:cNvSpPr txBox="1"/>
                <p:nvPr/>
              </p:nvSpPr>
              <p:spPr>
                <a:xfrm>
                  <a:off x="2951005" y="2144291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022408F-4665-AA2A-235B-129921E53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1005" y="2144291"/>
                  <a:ext cx="1064712" cy="5539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445D7F3F-967A-2912-EF81-5968A205886F}"/>
              </a:ext>
            </a:extLst>
          </p:cNvPr>
          <p:cNvGrpSpPr/>
          <p:nvPr/>
        </p:nvGrpSpPr>
        <p:grpSpPr>
          <a:xfrm>
            <a:off x="646920" y="3473286"/>
            <a:ext cx="5780762" cy="1165419"/>
            <a:chOff x="315238" y="3790380"/>
            <a:chExt cx="5780762" cy="11654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848BAAC-46E8-8481-AD95-BA0B33E25DCC}"/>
                    </a:ext>
                  </a:extLst>
                </p:cNvPr>
                <p:cNvSpPr txBox="1"/>
                <p:nvPr/>
              </p:nvSpPr>
              <p:spPr>
                <a:xfrm>
                  <a:off x="1258614" y="4263859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848BAAC-46E8-8481-AD95-BA0B33E25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8614" y="4263859"/>
                  <a:ext cx="1064712" cy="5539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0E72FE7-02F9-2B50-0039-D1DDB8FB520B}"/>
                </a:ext>
              </a:extLst>
            </p:cNvPr>
            <p:cNvCxnSpPr>
              <a:cxnSpLocks/>
            </p:cNvCxnSpPr>
            <p:nvPr/>
          </p:nvCxnSpPr>
          <p:spPr>
            <a:xfrm>
              <a:off x="2184747" y="4534672"/>
              <a:ext cx="970767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3B37B22-D722-AF99-C358-1A2FEFB249C7}"/>
                    </a:ext>
                  </a:extLst>
                </p:cNvPr>
                <p:cNvSpPr txBox="1"/>
                <p:nvPr/>
              </p:nvSpPr>
              <p:spPr>
                <a:xfrm>
                  <a:off x="1845328" y="4125917"/>
                  <a:ext cx="16496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 pairs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3B37B22-D722-AF99-C358-1A2FEFB24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5328" y="4125917"/>
                  <a:ext cx="164960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952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F74E33C-ED36-7E2F-AEEC-31A85D84CD1F}"/>
                </a:ext>
              </a:extLst>
            </p:cNvPr>
            <p:cNvSpPr txBox="1"/>
            <p:nvPr/>
          </p:nvSpPr>
          <p:spPr>
            <a:xfrm>
              <a:off x="2089586" y="4586467"/>
              <a:ext cx="1649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evolution 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453F46-C52E-9129-85A2-2DCAF3D2D71D}"/>
                    </a:ext>
                  </a:extLst>
                </p:cNvPr>
                <p:cNvSpPr txBox="1"/>
                <p:nvPr/>
              </p:nvSpPr>
              <p:spPr>
                <a:xfrm>
                  <a:off x="3020855" y="4263859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453F46-C52E-9129-85A2-2DCAF3D2D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855" y="4263859"/>
                  <a:ext cx="1064712" cy="5539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A2DFE75-0199-7D5B-0109-C77268957FCA}"/>
                </a:ext>
              </a:extLst>
            </p:cNvPr>
            <p:cNvSpPr txBox="1"/>
            <p:nvPr/>
          </p:nvSpPr>
          <p:spPr>
            <a:xfrm>
              <a:off x="315238" y="3790380"/>
              <a:ext cx="57807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Multi-directed loop (MDL) update: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3A62062-2591-9816-265E-BC1276A5D88D}"/>
              </a:ext>
            </a:extLst>
          </p:cNvPr>
          <p:cNvGrpSpPr/>
          <p:nvPr/>
        </p:nvGrpSpPr>
        <p:grpSpPr>
          <a:xfrm>
            <a:off x="2007420" y="2608482"/>
            <a:ext cx="2016511" cy="712722"/>
            <a:chOff x="1466850" y="2794475"/>
            <a:chExt cx="2016511" cy="712722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9B495F68-2F74-6B97-BBD2-0B7D2FC56A8A}"/>
                </a:ext>
              </a:extLst>
            </p:cNvPr>
            <p:cNvSpPr/>
            <p:nvPr/>
          </p:nvSpPr>
          <p:spPr>
            <a:xfrm>
              <a:off x="1466850" y="3022601"/>
              <a:ext cx="2016511" cy="484596"/>
            </a:xfrm>
            <a:prstGeom prst="roundRect">
              <a:avLst/>
            </a:prstGeom>
            <a:noFill/>
            <a:ln w="5715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7A11A1AA-971B-B53C-4E40-5AD1F8186EE5}"/>
                </a:ext>
              </a:extLst>
            </p:cNvPr>
            <p:cNvSpPr/>
            <p:nvPr/>
          </p:nvSpPr>
          <p:spPr>
            <a:xfrm rot="5400000">
              <a:off x="2459392" y="2823971"/>
              <a:ext cx="416157" cy="35875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18F06FC0-C209-F61B-8936-092A3791CEDD}"/>
                </a:ext>
              </a:extLst>
            </p:cNvPr>
            <p:cNvSpPr/>
            <p:nvPr/>
          </p:nvSpPr>
          <p:spPr>
            <a:xfrm rot="16200000">
              <a:off x="2086197" y="2823175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CD260B7-53F7-52CA-7496-D8F6B162D9DE}"/>
                    </a:ext>
                  </a:extLst>
                </p:cNvPr>
                <p:cNvSpPr txBox="1"/>
                <p:nvPr/>
              </p:nvSpPr>
              <p:spPr>
                <a:xfrm>
                  <a:off x="2724312" y="3105176"/>
                  <a:ext cx="3275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zh-CN" b="1"/>
                    <a:t> </a:t>
                  </a:r>
                  <a:endParaRPr lang="zh-CN" altLang="en-US" b="1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CD260B7-53F7-52CA-7496-D8F6B162D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312" y="3105176"/>
                  <a:ext cx="327526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64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DC707C0-223B-9B43-290A-0C8D87339FE4}"/>
                    </a:ext>
                  </a:extLst>
                </p:cNvPr>
                <p:cNvSpPr txBox="1"/>
                <p:nvPr/>
              </p:nvSpPr>
              <p:spPr>
                <a:xfrm>
                  <a:off x="2021272" y="3098031"/>
                  <a:ext cx="3269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 b="1"/>
                    <a:t> </a:t>
                  </a:r>
                  <a:endParaRPr lang="zh-CN" altLang="en-US" b="1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DC707C0-223B-9B43-290A-0C8D87339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272" y="3098031"/>
                  <a:ext cx="326949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074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7FE770C-3BD7-C223-6912-EAF8F1AA2477}"/>
              </a:ext>
            </a:extLst>
          </p:cNvPr>
          <p:cNvGrpSpPr/>
          <p:nvPr/>
        </p:nvGrpSpPr>
        <p:grpSpPr>
          <a:xfrm>
            <a:off x="269112" y="4508753"/>
            <a:ext cx="3282950" cy="1765008"/>
            <a:chOff x="914400" y="4980178"/>
            <a:chExt cx="3282950" cy="1765008"/>
          </a:xfrm>
        </p:grpSpPr>
        <p:cxnSp>
          <p:nvCxnSpPr>
            <p:cNvPr id="70" name="连接符: 肘形 69">
              <a:extLst>
                <a:ext uri="{FF2B5EF4-FFF2-40B4-BE49-F238E27FC236}">
                  <a16:creationId xmlns:a16="http://schemas.microsoft.com/office/drawing/2014/main" id="{1E130315-21AA-6497-8892-398777B19EF8}"/>
                </a:ext>
              </a:extLst>
            </p:cNvPr>
            <p:cNvCxnSpPr>
              <a:cxnSpLocks/>
              <a:endCxn id="27" idx="5"/>
            </p:cNvCxnSpPr>
            <p:nvPr/>
          </p:nvCxnSpPr>
          <p:spPr>
            <a:xfrm rot="10800000">
              <a:off x="2294277" y="5084218"/>
              <a:ext cx="1791291" cy="994749"/>
            </a:xfrm>
            <a:prstGeom prst="bentConnector4">
              <a:avLst>
                <a:gd name="adj1" fmla="val 177127"/>
                <a:gd name="adj2" fmla="val 91063"/>
              </a:avLst>
            </a:prstGeom>
            <a:ln w="571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EFC3FDCB-37FA-1985-1D91-A30D7447DB57}"/>
                </a:ext>
              </a:extLst>
            </p:cNvPr>
            <p:cNvGrpSpPr/>
            <p:nvPr/>
          </p:nvGrpSpPr>
          <p:grpSpPr>
            <a:xfrm>
              <a:off x="1374187" y="5187355"/>
              <a:ext cx="1430798" cy="577809"/>
              <a:chOff x="1416050" y="5189053"/>
              <a:chExt cx="1430798" cy="577809"/>
            </a:xfrm>
          </p:grpSpPr>
          <p:cxnSp>
            <p:nvCxnSpPr>
              <p:cNvPr id="50" name="连接符: 肘形 49">
                <a:extLst>
                  <a:ext uri="{FF2B5EF4-FFF2-40B4-BE49-F238E27FC236}">
                    <a16:creationId xmlns:a16="http://schemas.microsoft.com/office/drawing/2014/main" id="{D834F0C7-7259-74B5-79C8-4BE0F9E8BD34}"/>
                  </a:ext>
                </a:extLst>
              </p:cNvPr>
              <p:cNvCxnSpPr>
                <a:stCxn id="26" idx="0"/>
              </p:cNvCxnSpPr>
              <p:nvPr/>
            </p:nvCxnSpPr>
            <p:spPr>
              <a:xfrm flipH="1">
                <a:off x="1416050" y="5189053"/>
                <a:ext cx="1430798" cy="278297"/>
              </a:xfrm>
              <a:prstGeom prst="bentConnector3">
                <a:avLst>
                  <a:gd name="adj1" fmla="val -83667"/>
                </a:avLst>
              </a:prstGeom>
              <a:ln w="57150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连接符: 肘形 51">
                <a:extLst>
                  <a:ext uri="{FF2B5EF4-FFF2-40B4-BE49-F238E27FC236}">
                    <a16:creationId xmlns:a16="http://schemas.microsoft.com/office/drawing/2014/main" id="{83FCFC40-55B5-6E9D-407F-A106001B2EDB}"/>
                  </a:ext>
                </a:extLst>
              </p:cNvPr>
              <p:cNvCxnSpPr>
                <a:cxnSpLocks/>
                <a:endCxn id="31" idx="3"/>
              </p:cNvCxnSpPr>
              <p:nvPr/>
            </p:nvCxnSpPr>
            <p:spPr>
              <a:xfrm>
                <a:off x="1612900" y="5467350"/>
                <a:ext cx="901507" cy="299512"/>
              </a:xfrm>
              <a:prstGeom prst="bentConnector3">
                <a:avLst>
                  <a:gd name="adj1" fmla="val -50371"/>
                </a:avLst>
              </a:prstGeom>
              <a:ln w="57150">
                <a:solidFill>
                  <a:srgbClr val="00B05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35DCFEEE-9870-0B84-A3F4-957A2FE40A45}"/>
                </a:ext>
              </a:extLst>
            </p:cNvPr>
            <p:cNvSpPr/>
            <p:nvPr/>
          </p:nvSpPr>
          <p:spPr>
            <a:xfrm>
              <a:off x="914400" y="6380061"/>
              <a:ext cx="3171167" cy="365125"/>
            </a:xfrm>
            <a:prstGeom prst="roundRect">
              <a:avLst/>
            </a:prstGeom>
            <a:noFill/>
            <a:ln w="571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68C03030-A7DE-45BA-6B3A-33E4BFC836AE}"/>
                </a:ext>
              </a:extLst>
            </p:cNvPr>
            <p:cNvSpPr/>
            <p:nvPr/>
          </p:nvSpPr>
          <p:spPr>
            <a:xfrm rot="5400000">
              <a:off x="2459391" y="5009674"/>
              <a:ext cx="416157" cy="35875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F84BE66D-229E-2B43-E70C-93DAAE4F1E24}"/>
                </a:ext>
              </a:extLst>
            </p:cNvPr>
            <p:cNvSpPr/>
            <p:nvPr/>
          </p:nvSpPr>
          <p:spPr>
            <a:xfrm rot="16200000">
              <a:off x="2086196" y="5008878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6AD0B5F9-04C0-A990-5830-F228E38191C3}"/>
                </a:ext>
              </a:extLst>
            </p:cNvPr>
            <p:cNvSpPr/>
            <p:nvPr/>
          </p:nvSpPr>
          <p:spPr>
            <a:xfrm rot="5400000">
              <a:off x="2451931" y="5592931"/>
              <a:ext cx="416157" cy="35875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2E3C38EF-DC65-F950-B318-6213E9769EB5}"/>
                </a:ext>
              </a:extLst>
            </p:cNvPr>
            <p:cNvSpPr/>
            <p:nvPr/>
          </p:nvSpPr>
          <p:spPr>
            <a:xfrm rot="16200000">
              <a:off x="2085086" y="5585785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593F0E50-6371-B906-A45E-BBD4F8CBA359}"/>
                </a:ext>
              </a:extLst>
            </p:cNvPr>
            <p:cNvSpPr/>
            <p:nvPr/>
          </p:nvSpPr>
          <p:spPr>
            <a:xfrm rot="5400000">
              <a:off x="2459392" y="6180017"/>
              <a:ext cx="416157" cy="358756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5682F1F3-0F49-90E0-6FD0-F565020944F3}"/>
                </a:ext>
              </a:extLst>
            </p:cNvPr>
            <p:cNvSpPr/>
            <p:nvPr/>
          </p:nvSpPr>
          <p:spPr>
            <a:xfrm rot="16200000">
              <a:off x="2086197" y="6179221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6F92DAD7-991C-022B-5072-054ACD7707AB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>
              <a:off x="2839388" y="5772310"/>
              <a:ext cx="1357962" cy="200933"/>
            </a:xfrm>
            <a:prstGeom prst="bentConnector3">
              <a:avLst>
                <a:gd name="adj1" fmla="val 92085"/>
              </a:avLst>
            </a:prstGeom>
            <a:ln w="571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图片 78">
            <a:extLst>
              <a:ext uri="{FF2B5EF4-FFF2-40B4-BE49-F238E27FC236}">
                <a16:creationId xmlns:a16="http://schemas.microsoft.com/office/drawing/2014/main" id="{393E244E-31EB-DBAA-D042-91D2332D0948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26613" y="4804405"/>
            <a:ext cx="1497120" cy="1344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69B6EE-9D01-86EB-3C40-CD9347CE2B17}"/>
                  </a:ext>
                </a:extLst>
              </p:cNvPr>
              <p:cNvSpPr txBox="1"/>
              <p:nvPr/>
            </p:nvSpPr>
            <p:spPr>
              <a:xfrm>
                <a:off x="646920" y="6352835"/>
                <a:ext cx="82787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Thermal annealing process: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=1/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1500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𝛿𝛽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69B6EE-9D01-86EB-3C40-CD9347CE2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20" y="6352835"/>
                <a:ext cx="8278716" cy="400110"/>
              </a:xfrm>
              <a:prstGeom prst="rect">
                <a:avLst/>
              </a:prstGeom>
              <a:blipFill>
                <a:blip r:embed="rId15"/>
                <a:stretch>
                  <a:fillRect l="-736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70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9026-B4F1-21E7-8218-0BB943D2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C23C4C-94D3-7810-EBE3-485E3A1F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C80031-3C24-029B-A2C9-CD0E7240D40A}"/>
                  </a:ext>
                </a:extLst>
              </p:cNvPr>
              <p:cNvSpPr txBox="1"/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Method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bg1"/>
                    </a:solidFill>
                  </a:rPr>
                  <a:t>)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C80031-3C24-029B-A2C9-CD0E7240D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blipFill>
                <a:blip r:embed="rId3"/>
                <a:stretch>
                  <a:fillRect l="-1000" t="-6452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0BD52E8D-A723-34C9-E063-AB91F9D47D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1549" y="582561"/>
            <a:ext cx="9054069" cy="59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7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6753-2C44-DD7E-5FF5-0EB5953A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A811F3-F000-5A89-1A76-F582D9EE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B8DAA8-D781-4D43-70AE-15FA55543C03}"/>
                  </a:ext>
                </a:extLst>
              </p:cNvPr>
              <p:cNvSpPr txBox="1"/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Method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bg1"/>
                    </a:solidFill>
                  </a:rPr>
                  <a:t>)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B8DAA8-D781-4D43-70AE-15FA55543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blipFill>
                <a:blip r:embed="rId3"/>
                <a:stretch>
                  <a:fillRect l="-1000" t="-6452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2D204943-12BF-29A8-D28A-37E8D67C0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085" y="766235"/>
            <a:ext cx="5688168" cy="52353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A047C9-1C4C-096B-B0E7-4432347B11C3}"/>
                  </a:ext>
                </a:extLst>
              </p:cNvPr>
              <p:cNvSpPr txBox="1"/>
              <p:nvPr/>
            </p:nvSpPr>
            <p:spPr>
              <a:xfrm>
                <a:off x="407833" y="1653586"/>
                <a:ext cx="5688167" cy="3579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diagonalization:</a:t>
                </a:r>
              </a:p>
              <a:p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microcanonical thermal pure quantum method (mTPQ)</a:t>
                </a:r>
              </a:p>
              <a:p>
                <a:endParaRPr lang="it-IT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Starting from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real time corelation is measured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it-IT" altLang="zh-C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(0)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it-IT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𝑖𝐻𝑡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𝑖𝐻𝑡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it-IT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limitation: </a:t>
                </a:r>
                <a14:m>
                  <m:oMath xmlns:m="http://schemas.openxmlformats.org/officeDocument/2006/math">
                    <m:r>
                      <a:rPr lang="it-IT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it-IT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endParaRPr lang="en-US" altLang="zh-CN" sz="2000" b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Geometry Preferences</a:t>
                </a:r>
              </a:p>
              <a:p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A047C9-1C4C-096B-B0E7-4432347B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33" y="1653586"/>
                <a:ext cx="5688167" cy="3579057"/>
              </a:xfrm>
              <a:prstGeom prst="rect">
                <a:avLst/>
              </a:prstGeom>
              <a:blipFill>
                <a:blip r:embed="rId5"/>
                <a:stretch>
                  <a:fillRect l="-1715" t="-13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892E40F-0A4A-8163-EA57-0A5A7C6AE2F5}"/>
              </a:ext>
            </a:extLst>
          </p:cNvPr>
          <p:cNvSpPr txBox="1"/>
          <p:nvPr/>
        </p:nvSpPr>
        <p:spPr>
          <a:xfrm>
            <a:off x="62326" y="6289480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Akira Shimizu,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Phys. Rev. Lett. 108, 240401 (2012)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Akira Shimizu,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Phys. Rev. Lett. 111, 010401 (2013)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80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677D-5E2D-F35A-25F1-0AA7E527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C38E2-79CE-AEAD-A7AF-8859E9A5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B4F1C-4F4F-2E12-CCB4-72586A679789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E1A570-6F24-C381-6C9F-236062BA9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2578"/>
            <a:ext cx="12192000" cy="4965904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4F345B-7CAE-35C5-6F82-8B63F869FD53}"/>
              </a:ext>
            </a:extLst>
          </p:cNvPr>
          <p:cNvSpPr/>
          <p:nvPr/>
        </p:nvSpPr>
        <p:spPr>
          <a:xfrm>
            <a:off x="7994157" y="2985006"/>
            <a:ext cx="1445517" cy="837743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6BC3CD-0553-BD02-C3DB-F90974DE8974}"/>
              </a:ext>
            </a:extLst>
          </p:cNvPr>
          <p:cNvSpPr/>
          <p:nvPr/>
        </p:nvSpPr>
        <p:spPr>
          <a:xfrm>
            <a:off x="9439674" y="2224391"/>
            <a:ext cx="2020441" cy="1598358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1EFCDD8-0153-7320-CACE-E61D54C7C807}"/>
              </a:ext>
            </a:extLst>
          </p:cNvPr>
          <p:cNvSpPr/>
          <p:nvPr/>
        </p:nvSpPr>
        <p:spPr>
          <a:xfrm>
            <a:off x="678956" y="4397673"/>
            <a:ext cx="3860191" cy="1811460"/>
          </a:xfrm>
          <a:prstGeom prst="roundRect">
            <a:avLst/>
          </a:prstGeom>
          <a:noFill/>
          <a:ln w="3810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29648F3-BE0F-A5AE-5341-18EEE19D9D6E}"/>
                  </a:ext>
                </a:extLst>
              </p:cNvPr>
              <p:cNvSpPr txBox="1"/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QFI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0,0,0</m:t>
                        </m:r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,0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l-GR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29648F3-BE0F-A5AE-5341-18EEE19D9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blipFill>
                <a:blip r:embed="rId4"/>
                <a:stretch>
                  <a:fillRect l="-908" t="-4237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注: 双弯曲线形 4">
            <a:extLst>
              <a:ext uri="{FF2B5EF4-FFF2-40B4-BE49-F238E27FC236}">
                <a16:creationId xmlns:a16="http://schemas.microsoft.com/office/drawing/2014/main" id="{1906652F-9F43-63FA-6848-3E29DE227D70}"/>
              </a:ext>
            </a:extLst>
          </p:cNvPr>
          <p:cNvSpPr/>
          <p:nvPr/>
        </p:nvSpPr>
        <p:spPr>
          <a:xfrm>
            <a:off x="7803931" y="647642"/>
            <a:ext cx="3361169" cy="932488"/>
          </a:xfrm>
          <a:prstGeom prst="borderCallout3">
            <a:avLst>
              <a:gd name="adj1" fmla="val 31454"/>
              <a:gd name="adj2" fmla="val 100424"/>
              <a:gd name="adj3" fmla="val 31454"/>
              <a:gd name="adj4" fmla="val 114406"/>
              <a:gd name="adj5" fmla="val 107683"/>
              <a:gd name="adj6" fmla="val 108874"/>
              <a:gd name="adj7" fmla="val 168203"/>
              <a:gd name="adj8" fmla="val 98778"/>
            </a:avLst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D1663F1-C9EB-C710-D6A2-A6FB74D56D08}"/>
                  </a:ext>
                </a:extLst>
              </p:cNvPr>
              <p:cNvSpPr txBox="1"/>
              <p:nvPr/>
            </p:nvSpPr>
            <p:spPr>
              <a:xfrm>
                <a:off x="7893269" y="676067"/>
                <a:ext cx="31940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Understanding: The absence of spontaneous symmetry breaking [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in a finite system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D1663F1-C9EB-C710-D6A2-A6FB74D56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269" y="676067"/>
                <a:ext cx="3194009" cy="923330"/>
              </a:xfrm>
              <a:prstGeom prst="rect">
                <a:avLst/>
              </a:prstGeom>
              <a:blipFill>
                <a:blip r:embed="rId5"/>
                <a:stretch>
                  <a:fillRect l="-1718" t="-3974" r="-152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F6D475F-0DD7-D838-EE1C-AE60DA290255}"/>
                  </a:ext>
                </a:extLst>
              </p:cNvPr>
              <p:cNvSpPr txBox="1"/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F6D475F-0DD7-D838-EE1C-AE60DA290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A4D0E7E-8883-914F-1217-2271EAA3EB98}"/>
                  </a:ext>
                </a:extLst>
              </p:cNvPr>
              <p:cNvSpPr txBox="1"/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A4D0E7E-8883-914F-1217-2271EAA3E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7463EBB-37E2-EF28-3F6E-956AF91F0013}"/>
                  </a:ext>
                </a:extLst>
              </p:cNvPr>
              <p:cNvSpPr txBox="1"/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FM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7463EBB-37E2-EF28-3F6E-956AF91F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821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352A-4E53-72EA-28B4-D3A3E8E1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A2436E-63A8-029C-9666-766D08B4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07CD7-AC6C-28B6-3D35-8B780A75DC84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67D256-9C49-FD4F-360F-2B4731A3F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46" y="598405"/>
            <a:ext cx="10169307" cy="60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1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8680-C26D-33A6-1249-7A9B494B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2FD6E5-F5B3-D6A8-2996-D55FDCAF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82F22-BD41-92F7-5485-7EEE6576F46E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4A2E76-2E9A-6A41-B3C7-93C13F78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2977"/>
            <a:ext cx="12192000" cy="3429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36D4EB-FA1B-0753-5245-6B4FD97D7368}"/>
                  </a:ext>
                </a:extLst>
              </p:cNvPr>
              <p:cNvSpPr txBox="1"/>
              <p:nvPr/>
            </p:nvSpPr>
            <p:spPr>
              <a:xfrm>
                <a:off x="135293" y="846296"/>
                <a:ext cx="6130212" cy="1489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Ker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𝜔𝛽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𝛽𝜔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𝑄𝐹𝐼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4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Ker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36D4EB-FA1B-0753-5245-6B4FD97D7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93" y="846296"/>
                <a:ext cx="6130212" cy="1489318"/>
              </a:xfrm>
              <a:prstGeom prst="rect">
                <a:avLst/>
              </a:prstGeom>
              <a:blipFill>
                <a:blip r:embed="rId4"/>
                <a:stretch>
                  <a:fillRect l="-298" t="-6967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30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E532-C528-D888-0FB6-6ACAC107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042DF-C5A4-0AC4-CE96-B614B47D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B124E-1C40-AC14-18BD-DA030F79760E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4A71B7-5FFE-81E8-33E8-48FB239C3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73" y="1180359"/>
            <a:ext cx="7935326" cy="4848966"/>
          </a:xfrm>
          <a:prstGeom prst="rect">
            <a:avLst/>
          </a:prstGeom>
        </p:spPr>
      </p:pic>
      <p:pic>
        <p:nvPicPr>
          <p:cNvPr id="6" name="图片 5" descr="图表, 雷达图&#10;&#10;AI 生成的内容可能不正确。">
            <a:extLst>
              <a:ext uri="{FF2B5EF4-FFF2-40B4-BE49-F238E27FC236}">
                <a16:creationId xmlns:a16="http://schemas.microsoft.com/office/drawing/2014/main" id="{F7BE739F-2952-E8C5-E6A9-E1749204D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905" y="3826482"/>
            <a:ext cx="2048645" cy="2202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297843-91C8-95ED-F0C8-5134F34758EC}"/>
                  </a:ext>
                </a:extLst>
              </p:cNvPr>
              <p:cNvSpPr txBox="1"/>
              <p:nvPr/>
            </p:nvSpPr>
            <p:spPr>
              <a:xfrm>
                <a:off x="241107" y="958929"/>
                <a:ext cx="4082242" cy="3459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Neutron scattering cross section: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Cerium-based pyrochlore </a:t>
                </a:r>
                <a:r>
                  <a: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(global frame)</a:t>
                </a: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𝐷𝑂</m:t>
                          </m:r>
                        </m:sup>
                      </m:sSup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𝜈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𝝂</m:t>
                                  </m:r>
                                </m:sub>
                              </m:s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𝝂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6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𝒒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𝜈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±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1,1,1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1,1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297843-91C8-95ED-F0C8-5134F3475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07" y="958929"/>
                <a:ext cx="4082242" cy="3459858"/>
              </a:xfrm>
              <a:prstGeom prst="rect">
                <a:avLst/>
              </a:prstGeom>
              <a:blipFill>
                <a:blip r:embed="rId5"/>
                <a:stretch>
                  <a:fillRect l="-1345" t="-8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手杖形 4">
            <a:hlinkClick r:id="rId6" action="ppaction://hlinksldjump"/>
            <a:extLst>
              <a:ext uri="{FF2B5EF4-FFF2-40B4-BE49-F238E27FC236}">
                <a16:creationId xmlns:a16="http://schemas.microsoft.com/office/drawing/2014/main" id="{4CD095C8-6024-2284-8C0F-F6545FABF7DD}"/>
              </a:ext>
            </a:extLst>
          </p:cNvPr>
          <p:cNvSpPr/>
          <p:nvPr/>
        </p:nvSpPr>
        <p:spPr>
          <a:xfrm rot="10800000">
            <a:off x="241107" y="6389979"/>
            <a:ext cx="429208" cy="331496"/>
          </a:xfrm>
          <a:prstGeom prst="utur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425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0B694-1A50-5B7E-07C4-EFAFEF7A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04BAAE-2E73-796B-F57F-95724DA6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EEB7E-B3E8-78D3-BF12-4CB06F99C672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err="1">
                <a:solidFill>
                  <a:schemeClr val="bg1"/>
                </a:solidFill>
              </a:rPr>
              <a:t>Balents</a:t>
            </a:r>
            <a:r>
              <a:rPr lang="en-US" altLang="zh-CN" b="1">
                <a:solidFill>
                  <a:schemeClr val="bg1"/>
                </a:solidFill>
              </a:rPr>
              <a:t>-Fisher-Girvin (BFG) model </a:t>
            </a:r>
            <a:endParaRPr lang="zh-CN" alt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CC130E-1E84-DF1F-5D2F-3E63C48367F1}"/>
                  </a:ext>
                </a:extLst>
              </p:cNvPr>
              <p:cNvSpPr txBox="1"/>
              <p:nvPr/>
            </p:nvSpPr>
            <p:spPr>
              <a:xfrm>
                <a:off x="0" y="627587"/>
                <a:ext cx="4785862" cy="822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h𝑒𝑥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h𝑒𝑥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CC130E-1E84-DF1F-5D2F-3E63C4836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7587"/>
                <a:ext cx="4785862" cy="822661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FF53B26-92E6-9884-3EF9-14A6B453546B}"/>
                  </a:ext>
                </a:extLst>
              </p:cNvPr>
              <p:cNvSpPr txBox="1"/>
              <p:nvPr/>
            </p:nvSpPr>
            <p:spPr>
              <a:xfrm>
                <a:off x="-23684" y="1605742"/>
                <a:ext cx="6151666" cy="1988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>
                    <a:latin typeface="Cambria Math" panose="02040503050406030204" pitchFamily="18" charset="0"/>
                  </a:rPr>
                  <a:t>Ring Exchange </a:t>
                </a:r>
                <a:r>
                  <a:rPr lang="en-US" altLang="zh-CN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</a:t>
                </a:r>
                <a:r>
                  <a:rPr lang="en-US" altLang="zh-CN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BFG model </a:t>
                </a:r>
                <a:r>
                  <a:rPr lang="en-US" altLang="zh-CN" b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regime</a:t>
                </a:r>
                <a:r>
                  <a:rPr lang="en-US" altLang="zh-CN">
                    <a:latin typeface="Cambria Math" panose="02040503050406030204" pitchFamily="18" charset="0"/>
                  </a:rPr>
                  <a:t>:</a:t>
                </a:r>
                <a:endParaRPr lang="en-US" altLang="zh-CN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1,2,3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=0.07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~0.0049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FF53B26-92E6-9884-3EF9-14A6B4535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684" y="1605742"/>
                <a:ext cx="6151666" cy="1988365"/>
              </a:xfrm>
              <a:prstGeom prst="rect">
                <a:avLst/>
              </a:prstGeom>
              <a:blipFill>
                <a:blip r:embed="rId4"/>
                <a:stretch>
                  <a:fillRect l="-793" t="-1835" b="-1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08D3AF9B-10EE-682C-E562-3A283DA135AF}"/>
              </a:ext>
            </a:extLst>
          </p:cNvPr>
          <p:cNvSpPr txBox="1"/>
          <p:nvPr/>
        </p:nvSpPr>
        <p:spPr>
          <a:xfrm>
            <a:off x="0" y="6538912"/>
            <a:ext cx="504626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Leon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Balents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Phys. Rev. B 65, 224412 (2002)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EAB118-35F9-58E4-F1E5-AF078498EE0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1442" y="3022085"/>
            <a:ext cx="8953080" cy="35168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A063C9-B000-3784-0A2E-9190AE4BC5A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982" y="41017"/>
            <a:ext cx="5533713" cy="31294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48994FC-C638-66FA-516E-1CA26EC43159}"/>
                  </a:ext>
                </a:extLst>
              </p:cNvPr>
              <p:cNvSpPr txBox="1"/>
              <p:nvPr/>
            </p:nvSpPr>
            <p:spPr>
              <a:xfrm>
                <a:off x="6923314" y="6458829"/>
                <a:ext cx="737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0.07076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48994FC-C638-66FA-516E-1CA26EC43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14" y="6458829"/>
                <a:ext cx="737119" cy="369332"/>
              </a:xfrm>
              <a:prstGeom prst="rect">
                <a:avLst/>
              </a:prstGeom>
              <a:blipFill>
                <a:blip r:embed="rId8"/>
                <a:stretch>
                  <a:fillRect r="-33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726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AE16-2125-BF89-48D1-23940321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048D2D-CC0E-BB63-AD51-3B34739E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4C5EA-C1E0-8305-12A1-DD5830E6541E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Results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2DAF3-20B5-A2AA-F1FB-4066D3B5C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" y="1223210"/>
            <a:ext cx="12192000" cy="441157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42D1DB0-8FE3-B0EA-A10D-2BAC2C23897C}"/>
              </a:ext>
            </a:extLst>
          </p:cNvPr>
          <p:cNvCxnSpPr/>
          <p:nvPr/>
        </p:nvCxnSpPr>
        <p:spPr>
          <a:xfrm>
            <a:off x="7751928" y="1767385"/>
            <a:ext cx="0" cy="8461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5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EEED-3CAE-9905-51AA-C6C45921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04186-A96C-74C9-B4CD-CA608331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769FB-B20E-C7C0-B084-1A3035DAC230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Sacling</a:t>
            </a:r>
            <a:r>
              <a:rPr lang="en-US" altLang="zh-CN" b="1" dirty="0">
                <a:solidFill>
                  <a:schemeClr val="bg1"/>
                </a:solidFill>
              </a:rPr>
              <a:t> behavior of QFI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1B3F72-A554-881B-C56A-B2DA3C4EDF0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070" y="2463977"/>
            <a:ext cx="5330193" cy="41755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9CBB2D-F5E6-5CF0-69F0-1AF089FC008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05763" y="2397966"/>
            <a:ext cx="6286237" cy="4241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21AE9D-2B1D-31EE-3E21-DA4D1D94BD53}"/>
                  </a:ext>
                </a:extLst>
              </p:cNvPr>
              <p:cNvSpPr txBox="1"/>
              <p:nvPr/>
            </p:nvSpPr>
            <p:spPr>
              <a:xfrm>
                <a:off x="953472" y="136525"/>
                <a:ext cx="10114384" cy="1726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≈1.495(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≈0.04 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d>
                  </m:oMath>
                </a14:m>
                <a:endParaRPr lang="en-US" altLang="zh-CN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=−0.495 (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0.96 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altLang="zh-CN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21AE9D-2B1D-31EE-3E21-DA4D1D94B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72" y="136525"/>
                <a:ext cx="10114384" cy="1726883"/>
              </a:xfrm>
              <a:prstGeom prst="rect">
                <a:avLst/>
              </a:prstGeom>
              <a:blipFill>
                <a:blip r:embed="rId5"/>
                <a:stretch>
                  <a:fillRect b="-3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4A4706-7D22-176F-6771-AF5315823F7E}"/>
              </a:ext>
            </a:extLst>
          </p:cNvPr>
          <p:cNvCxnSpPr/>
          <p:nvPr/>
        </p:nvCxnSpPr>
        <p:spPr>
          <a:xfrm>
            <a:off x="553616" y="1833417"/>
            <a:ext cx="110847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C7113E1-6322-45E7-5F8C-1C8841569D13}"/>
              </a:ext>
            </a:extLst>
          </p:cNvPr>
          <p:cNvCxnSpPr>
            <a:cxnSpLocks/>
          </p:cNvCxnSpPr>
          <p:nvPr/>
        </p:nvCxnSpPr>
        <p:spPr>
          <a:xfrm>
            <a:off x="5890212" y="1833417"/>
            <a:ext cx="0" cy="50572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D2E376-2CBA-76C8-E2DF-E258B59584AD}"/>
                  </a:ext>
                </a:extLst>
              </p:cNvPr>
              <p:cNvSpPr txBox="1"/>
              <p:nvPr/>
            </p:nvSpPr>
            <p:spPr>
              <a:xfrm>
                <a:off x="530337" y="1995141"/>
                <a:ext cx="5075657" cy="405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D2E376-2CBA-76C8-E2DF-E258B5958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37" y="1995141"/>
                <a:ext cx="5075657" cy="405176"/>
              </a:xfrm>
              <a:prstGeom prst="rect">
                <a:avLst/>
              </a:prstGeom>
              <a:blipFill>
                <a:blip r:embed="rId6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F420487-F09B-67BB-B3F5-62D6663C3977}"/>
                  </a:ext>
                </a:extLst>
              </p:cNvPr>
              <p:cNvSpPr txBox="1"/>
              <p:nvPr/>
            </p:nvSpPr>
            <p:spPr>
              <a:xfrm>
                <a:off x="6278143" y="1992790"/>
                <a:ext cx="5075657" cy="405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𝑇𝐿</m:t>
                          </m:r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F420487-F09B-67BB-B3F5-62D6663C3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143" y="1992790"/>
                <a:ext cx="5075657" cy="405176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F2448A0E-D1FB-89D4-4E5F-689FB8C84E9D}"/>
              </a:ext>
            </a:extLst>
          </p:cNvPr>
          <p:cNvSpPr txBox="1"/>
          <p:nvPr/>
        </p:nvSpPr>
        <p:spPr>
          <a:xfrm>
            <a:off x="-15659" y="6567586"/>
            <a:ext cx="504626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Nature Phys 12, 778–782 (2016)</a:t>
            </a:r>
            <a:endParaRPr lang="fr-FR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3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6450-57C1-C62A-7A4F-A5C66553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3FD9D-215D-6226-47C2-32BD742E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634F4-100A-F0C0-087B-8A3E94AE6A7D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Results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68C0DB-08CA-392E-BEE5-12D5967E7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" y="1223210"/>
            <a:ext cx="12192000" cy="4411579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75F68683-1D56-78C6-9B27-04B490C990FF}"/>
              </a:ext>
            </a:extLst>
          </p:cNvPr>
          <p:cNvSpPr/>
          <p:nvPr/>
        </p:nvSpPr>
        <p:spPr>
          <a:xfrm>
            <a:off x="3219450" y="4514850"/>
            <a:ext cx="1143000" cy="6477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57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4EDF-198A-97A8-7837-E4AF5662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76438-80C8-0F06-4F0C-E658BC45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A4884-F2DE-9D39-ECAF-1F44F91C5D35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Observation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C8A0E7-ECBE-55D0-7D47-B0965F39C966}"/>
              </a:ext>
            </a:extLst>
          </p:cNvPr>
          <p:cNvSpPr txBox="1"/>
          <p:nvPr/>
        </p:nvSpPr>
        <p:spPr>
          <a:xfrm>
            <a:off x="9834339" y="884558"/>
            <a:ext cx="2209800" cy="369332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Ground state change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44C560-764F-E363-3787-DFBF05589863}"/>
              </a:ext>
            </a:extLst>
          </p:cNvPr>
          <p:cNvSpPr txBox="1"/>
          <p:nvPr/>
        </p:nvSpPr>
        <p:spPr>
          <a:xfrm>
            <a:off x="9824814" y="2339360"/>
            <a:ext cx="2209800" cy="369332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 Spin order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333A4A-46D5-2097-72D3-F0B521C7D10A}"/>
              </a:ext>
            </a:extLst>
          </p:cNvPr>
          <p:cNvSpPr txBox="1"/>
          <p:nvPr/>
        </p:nvSpPr>
        <p:spPr>
          <a:xfrm>
            <a:off x="9824814" y="3779977"/>
            <a:ext cx="2209800" cy="369332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 dimer order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A6DD1F-4E9A-6DEA-FB38-08ED9825668B}"/>
              </a:ext>
            </a:extLst>
          </p:cNvPr>
          <p:cNvSpPr txBox="1"/>
          <p:nvPr/>
        </p:nvSpPr>
        <p:spPr>
          <a:xfrm>
            <a:off x="9834339" y="5121193"/>
            <a:ext cx="2209800" cy="646331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Entangle structure change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4A1A33F-1E3A-5560-C60E-DE336083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" y="1483567"/>
            <a:ext cx="5394697" cy="41008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0F2AD6-F514-BE44-5CD1-3400E0EF7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468" y="410149"/>
            <a:ext cx="4312298" cy="6070408"/>
          </a:xfrm>
          <a:prstGeom prst="rect">
            <a:avLst/>
          </a:prstGeom>
        </p:spPr>
      </p:pic>
      <p:sp>
        <p:nvSpPr>
          <p:cNvPr id="3" name="箭头: 手杖形 2">
            <a:hlinkClick r:id="rId5" action="ppaction://hlinksldjump"/>
            <a:extLst>
              <a:ext uri="{FF2B5EF4-FFF2-40B4-BE49-F238E27FC236}">
                <a16:creationId xmlns:a16="http://schemas.microsoft.com/office/drawing/2014/main" id="{40FE21E7-AC74-CE79-2302-F1715B096D5F}"/>
              </a:ext>
            </a:extLst>
          </p:cNvPr>
          <p:cNvSpPr/>
          <p:nvPr/>
        </p:nvSpPr>
        <p:spPr>
          <a:xfrm rot="10800000">
            <a:off x="114983" y="5949365"/>
            <a:ext cx="429208" cy="331496"/>
          </a:xfrm>
          <a:prstGeom prst="utur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EC1343-96C5-0107-9F87-A49F35DB3C38}"/>
              </a:ext>
            </a:extLst>
          </p:cNvPr>
          <p:cNvSpPr txBox="1"/>
          <p:nvPr/>
        </p:nvSpPr>
        <p:spPr>
          <a:xfrm>
            <a:off x="0" y="6351095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Liuke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Lyu,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arXiv:2505.18124 (2025)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Menghan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Song, et al., </a:t>
            </a:r>
            <a:r>
              <a:rPr lang="fr-FR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arXiv:2509.09983 (2025)</a:t>
            </a:r>
            <a:endParaRPr lang="fr-FR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9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7239C2-E721-44EE-F5F3-3E6E4142B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9" t="9091" r="29135"/>
          <a:stretch/>
        </p:blipFill>
        <p:spPr>
          <a:xfrm>
            <a:off x="3523488" y="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E6D78-6CD2-44CA-B688-E23CBE6B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51" y="2670022"/>
            <a:ext cx="6793676" cy="18951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800" b="1" dirty="0"/>
              <a:t>Thank you.</a:t>
            </a:r>
            <a:br>
              <a:rPr lang="en-US" altLang="zh-CN" sz="4800" b="1" dirty="0"/>
            </a:br>
            <a:r>
              <a:rPr lang="en-US" altLang="zh-CN" sz="2500" b="1" dirty="0"/>
              <a:t>arXiv:2510.14813 (2025) </a:t>
            </a:r>
            <a:br>
              <a:rPr lang="en-US" altLang="zh-CN" sz="2500" b="1" dirty="0"/>
            </a:br>
            <a:r>
              <a:rPr lang="en-US" altLang="zh-CN" sz="2500" b="1" dirty="0"/>
              <a:t>arXiv:2603.19951 (2026)</a:t>
            </a:r>
            <a:endParaRPr lang="en-US" altLang="zh-CN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AAD61-91F7-1510-D020-12CB8B77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17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9122A-CF6C-45E3-6E10-87B13E77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3C133-22B2-DA5B-26A6-496857E5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4302D-625E-6ACA-E623-FE97C1AF4695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 </a:t>
            </a:r>
            <a:endParaRPr lang="zh-CN" alt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A364DA6-0DAA-5FA1-A409-2E93CBA73832}"/>
                  </a:ext>
                </a:extLst>
              </p:cNvPr>
              <p:cNvSpPr txBox="1"/>
              <p:nvPr/>
            </p:nvSpPr>
            <p:spPr>
              <a:xfrm>
                <a:off x="746448" y="1057966"/>
                <a:ext cx="11930743" cy="5023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0" dirty="0">
                    <a:latin typeface="Cambria Math" panose="02040503050406030204" pitchFamily="18" charset="0"/>
                  </a:rPr>
                  <a:t>The Quantum Fisher Information is given by</a:t>
                </a:r>
                <a:endParaRPr lang="en-US" altLang="zh-CN" sz="2400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)]=2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"/>
                            <m:endChr m:val="⟩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⟨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)/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referring to a thermal state.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dynamic susceptibilities is given by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𝑂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>
                                            <a:latin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𝜋𝛿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Noting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𝜋𝛿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</m:oMath>
                </a14:m>
                <a:r>
                  <a:rPr lang="en-US" altLang="zh-C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A364DA6-0DAA-5FA1-A409-2E93CBA73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8" y="1057966"/>
                <a:ext cx="11930743" cy="5023363"/>
              </a:xfrm>
              <a:prstGeom prst="rect">
                <a:avLst/>
              </a:prstGeom>
              <a:blipFill>
                <a:blip r:embed="rId3"/>
                <a:stretch>
                  <a:fillRect l="-766" t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51C2C9D-4152-5C29-6636-E33E18DC32D9}"/>
              </a:ext>
            </a:extLst>
          </p:cNvPr>
          <p:cNvSpPr txBox="1"/>
          <p:nvPr/>
        </p:nvSpPr>
        <p:spPr>
          <a:xfrm>
            <a:off x="0" y="6538912"/>
            <a:ext cx="504626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Nature Phys 12, 778–782 (2016)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58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F267-8EBF-CEBB-F7A6-ADCA2437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B94DADA-D462-3B9C-8AFA-B12F9484C278}"/>
                  </a:ext>
                </a:extLst>
              </p:cNvPr>
              <p:cNvSpPr txBox="1"/>
              <p:nvPr/>
            </p:nvSpPr>
            <p:spPr>
              <a:xfrm>
                <a:off x="52087" y="552992"/>
                <a:ext cx="5544273" cy="577850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given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such 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𝑖𝑞𝑟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acc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corresponding QFI is defined as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𝑄𝐹𝐼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altLang="zh-CN" sz="2000" b="0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4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𝜔𝛽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[1−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𝛽𝜔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dynamic structure factor of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corresponding state is at-least (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)-partite entangled.</a:t>
                </a: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B94DADA-D462-3B9C-8AFA-B12F9484C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7" y="552992"/>
                <a:ext cx="5544273" cy="5778505"/>
              </a:xfrm>
              <a:prstGeom prst="rect">
                <a:avLst/>
              </a:prstGeom>
              <a:blipFill>
                <a:blip r:embed="rId3"/>
                <a:stretch>
                  <a:fillRect l="-1098" t="-8105" r="-55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933A65F9-436E-0239-A863-D8D0C0F517E1}"/>
              </a:ext>
            </a:extLst>
          </p:cNvPr>
          <p:cNvSpPr txBox="1"/>
          <p:nvPr/>
        </p:nvSpPr>
        <p:spPr>
          <a:xfrm>
            <a:off x="5700530" y="3222504"/>
            <a:ext cx="6439383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290B43-A216-C74D-75B2-C54350BCDA84}"/>
              </a:ext>
            </a:extLst>
          </p:cNvPr>
          <p:cNvSpPr txBox="1"/>
          <p:nvPr/>
        </p:nvSpPr>
        <p:spPr>
          <a:xfrm>
            <a:off x="5700529" y="535118"/>
            <a:ext cx="6439383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962AA-A651-FB0E-25A4-3491596B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7FFE7-BBD9-6B64-D32C-2AE0CCAEA78E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9C9083-C25C-9924-509D-8E97271F5622}"/>
              </a:ext>
            </a:extLst>
          </p:cNvPr>
          <p:cNvSpPr txBox="1"/>
          <p:nvPr/>
        </p:nvSpPr>
        <p:spPr>
          <a:xfrm>
            <a:off x="5756793" y="2303098"/>
            <a:ext cx="4113307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Heisenberg spin chain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V. Menon,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Phys. Rev. B 107, 054422 (2023)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Scheie,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Phys. Rev. B .103, 224434 (2021)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0E3527F-3E9E-0C99-A692-C32091894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4984" y="3530662"/>
            <a:ext cx="4056927" cy="188662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64CF053-1C1D-86BE-AE80-662A6B791A9E}"/>
              </a:ext>
            </a:extLst>
          </p:cNvPr>
          <p:cNvSpPr txBox="1"/>
          <p:nvPr/>
        </p:nvSpPr>
        <p:spPr>
          <a:xfrm>
            <a:off x="5948027" y="5582702"/>
            <a:ext cx="3856920" cy="11387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Triangle Lattice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O. Scheie,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Nat. Phys. 20, 74–81 (2024)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F6DB29D-3E82-F74A-EAF8-9C15D6028A3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14431" y="3199960"/>
            <a:ext cx="2298942" cy="162655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42082CB-CE09-0BD9-57C7-66391463A0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6365" y="4809274"/>
            <a:ext cx="2092129" cy="150289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26E4465-AA49-A48F-786A-6E473E2DCB4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21031" y="593278"/>
            <a:ext cx="3068761" cy="224703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59C09E3-9C1F-CE24-C125-840F40D919CE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548536"/>
            <a:ext cx="2016769" cy="188536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1F264A4-93F7-7020-4E69-9999D1F5BD17}"/>
              </a:ext>
            </a:extLst>
          </p:cNvPr>
          <p:cNvGrpSpPr/>
          <p:nvPr/>
        </p:nvGrpSpPr>
        <p:grpSpPr>
          <a:xfrm>
            <a:off x="357265" y="5109245"/>
            <a:ext cx="634662" cy="575952"/>
            <a:chOff x="260759" y="3859347"/>
            <a:chExt cx="634662" cy="57595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379087D6-70CD-6BD7-BC5E-827F786901B9}"/>
                </a:ext>
              </a:extLst>
            </p:cNvPr>
            <p:cNvSpPr/>
            <p:nvPr/>
          </p:nvSpPr>
          <p:spPr>
            <a:xfrm>
              <a:off x="260759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F3F2A91-73E7-A5DA-84F7-77132CBAA6CF}"/>
                </a:ext>
              </a:extLst>
            </p:cNvPr>
            <p:cNvSpPr/>
            <p:nvPr/>
          </p:nvSpPr>
          <p:spPr>
            <a:xfrm>
              <a:off x="692218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7CF21ECA-5611-2877-D017-1FA3C5D96D47}"/>
                </a:ext>
              </a:extLst>
            </p:cNvPr>
            <p:cNvSpPr/>
            <p:nvPr/>
          </p:nvSpPr>
          <p:spPr>
            <a:xfrm>
              <a:off x="2607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D9A3268-7A90-5786-E23B-7BF85377F04B}"/>
                </a:ext>
              </a:extLst>
            </p:cNvPr>
            <p:cNvSpPr/>
            <p:nvPr/>
          </p:nvSpPr>
          <p:spPr>
            <a:xfrm>
              <a:off x="6974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04D0455-8B50-1B9F-2DAF-3D9D9E7FBD82}"/>
              </a:ext>
            </a:extLst>
          </p:cNvPr>
          <p:cNvGrpSpPr/>
          <p:nvPr/>
        </p:nvGrpSpPr>
        <p:grpSpPr>
          <a:xfrm>
            <a:off x="362506" y="4310634"/>
            <a:ext cx="634662" cy="575952"/>
            <a:chOff x="260759" y="3859347"/>
            <a:chExt cx="634662" cy="57595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E6DE7AE-7571-F97C-23C3-0F35E87C10B2}"/>
                </a:ext>
              </a:extLst>
            </p:cNvPr>
            <p:cNvSpPr/>
            <p:nvPr/>
          </p:nvSpPr>
          <p:spPr>
            <a:xfrm>
              <a:off x="260759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37CD16C-1AD2-1899-0599-AE9A5880BF9F}"/>
                </a:ext>
              </a:extLst>
            </p:cNvPr>
            <p:cNvSpPr/>
            <p:nvPr/>
          </p:nvSpPr>
          <p:spPr>
            <a:xfrm>
              <a:off x="692218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4CABC06-FA97-997C-9A98-CAD638BA27FA}"/>
                </a:ext>
              </a:extLst>
            </p:cNvPr>
            <p:cNvSpPr/>
            <p:nvPr/>
          </p:nvSpPr>
          <p:spPr>
            <a:xfrm>
              <a:off x="2607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2A88540-E20B-9491-AC01-FDEAF93118B7}"/>
                </a:ext>
              </a:extLst>
            </p:cNvPr>
            <p:cNvSpPr/>
            <p:nvPr/>
          </p:nvSpPr>
          <p:spPr>
            <a:xfrm>
              <a:off x="6974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9356ACF-6605-C6E1-7312-2B70FDAB1442}"/>
              </a:ext>
            </a:extLst>
          </p:cNvPr>
          <p:cNvSpPr/>
          <p:nvPr/>
        </p:nvSpPr>
        <p:spPr>
          <a:xfrm>
            <a:off x="263713" y="4271650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7C03FD-8272-C6F1-D81D-9EA855A6F398}"/>
              </a:ext>
            </a:extLst>
          </p:cNvPr>
          <p:cNvSpPr/>
          <p:nvPr/>
        </p:nvSpPr>
        <p:spPr>
          <a:xfrm>
            <a:off x="263713" y="4652111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279DBFF-A093-E2DB-FC39-D02040E080A9}"/>
              </a:ext>
            </a:extLst>
          </p:cNvPr>
          <p:cNvSpPr/>
          <p:nvPr/>
        </p:nvSpPr>
        <p:spPr>
          <a:xfrm>
            <a:off x="258592" y="5065402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458735-53D7-08C9-6FD7-BCC8BAA4C1AE}"/>
                  </a:ext>
                </a:extLst>
              </p:cNvPr>
              <p:cNvSpPr txBox="1"/>
              <p:nvPr/>
            </p:nvSpPr>
            <p:spPr>
              <a:xfrm>
                <a:off x="1195144" y="4251097"/>
                <a:ext cx="4226262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458735-53D7-08C9-6FD7-BCC8BAA4C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44" y="4251097"/>
                <a:ext cx="4226262" cy="6646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46F8BDC-DF6A-EDE2-A5B2-069CAB264326}"/>
                  </a:ext>
                </a:extLst>
              </p:cNvPr>
              <p:cNvSpPr txBox="1"/>
              <p:nvPr/>
            </p:nvSpPr>
            <p:spPr>
              <a:xfrm>
                <a:off x="1234183" y="5016949"/>
                <a:ext cx="4226262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46F8BDC-DF6A-EDE2-A5B2-069CAB264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183" y="5016949"/>
                <a:ext cx="4226262" cy="6646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E57EF3A-CDF2-627F-A2A5-2DCD5AD17AA1}"/>
              </a:ext>
            </a:extLst>
          </p:cNvPr>
          <p:cNvCxnSpPr/>
          <p:nvPr/>
        </p:nvCxnSpPr>
        <p:spPr>
          <a:xfrm>
            <a:off x="258592" y="4997899"/>
            <a:ext cx="5060698" cy="0"/>
          </a:xfrm>
          <a:prstGeom prst="line">
            <a:avLst/>
          </a:prstGeom>
          <a:ln w="57150">
            <a:solidFill>
              <a:srgbClr val="1C161C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866D465-20EA-000C-43E9-10A951C42D3F}"/>
              </a:ext>
            </a:extLst>
          </p:cNvPr>
          <p:cNvSpPr txBox="1"/>
          <p:nvPr/>
        </p:nvSpPr>
        <p:spPr>
          <a:xfrm>
            <a:off x="40186" y="5833952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Nature Phys 12, 778–782 (2016)</a:t>
            </a:r>
            <a:endParaRPr lang="fr-FR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Luca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Pezzé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Phys. Rev. Lett. 102, 100401 (2009)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15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5F2DD-64A4-1B0D-0045-740B7196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BFE763E-CE67-EF01-AFA1-873F7721254A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</a:t>
            </a:r>
            <a:endParaRPr lang="zh-CN" alt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379FB-1723-8982-A260-FC13521AAC1B}"/>
                  </a:ext>
                </a:extLst>
              </p:cNvPr>
              <p:cNvSpPr txBox="1"/>
              <p:nvPr/>
            </p:nvSpPr>
            <p:spPr>
              <a:xfrm>
                <a:off x="248619" y="586853"/>
                <a:ext cx="10139819" cy="2658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physical meaning of Quantum Fisher information’s independence of the dynamic spectrum?</a:t>
                </a:r>
              </a:p>
              <a:p>
                <a:pPr algn="just"/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Quantum Cramér-Rao bound: Given a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a unitary transform is applied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parameter to be estimated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Hermitian operator, and an observable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measured to infer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the estimation variance satisfies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𝑚𝐹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observed from the dynamic spectra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379FB-1723-8982-A260-FC13521AA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9" y="586853"/>
                <a:ext cx="10139819" cy="2658805"/>
              </a:xfrm>
              <a:prstGeom prst="rect">
                <a:avLst/>
              </a:prstGeom>
              <a:blipFill>
                <a:blip r:embed="rId2"/>
                <a:stretch>
                  <a:fillRect l="-541" t="-1147" r="-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4498320F-705C-73A0-B83C-AFA7675C29FC}"/>
              </a:ext>
            </a:extLst>
          </p:cNvPr>
          <p:cNvGrpSpPr/>
          <p:nvPr/>
        </p:nvGrpSpPr>
        <p:grpSpPr>
          <a:xfrm>
            <a:off x="7605179" y="3366093"/>
            <a:ext cx="3307821" cy="3359697"/>
            <a:chOff x="10198062" y="1088177"/>
            <a:chExt cx="1762440" cy="1790080"/>
          </a:xfrm>
        </p:grpSpPr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5F7605F7-66E2-B97A-33EB-DF9A5F9370E1}"/>
                </a:ext>
              </a:extLst>
            </p:cNvPr>
            <p:cNvSpPr/>
            <p:nvPr/>
          </p:nvSpPr>
          <p:spPr>
            <a:xfrm rot="16441581">
              <a:off x="10334872" y="1252628"/>
              <a:ext cx="1488819" cy="1762440"/>
            </a:xfrm>
            <a:prstGeom prst="arc">
              <a:avLst>
                <a:gd name="adj1" fmla="val 16200000"/>
                <a:gd name="adj2" fmla="val 993675"/>
              </a:avLst>
            </a:prstGeom>
            <a:ln w="63500">
              <a:solidFill>
                <a:schemeClr val="accent6">
                  <a:lumMod val="75000"/>
                </a:scheme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1C6C1EC-3141-1E08-FFBD-3985505D85F9}"/>
                </a:ext>
              </a:extLst>
            </p:cNvPr>
            <p:cNvSpPr/>
            <p:nvPr/>
          </p:nvSpPr>
          <p:spPr>
            <a:xfrm>
              <a:off x="10628335" y="1371159"/>
              <a:ext cx="162839" cy="16283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EC2B524-6C2F-B42F-C7E4-383E0EC36C56}"/>
                    </a:ext>
                  </a:extLst>
                </p:cNvPr>
                <p:cNvSpPr txBox="1"/>
                <p:nvPr/>
              </p:nvSpPr>
              <p:spPr>
                <a:xfrm>
                  <a:off x="11176720" y="1452578"/>
                  <a:ext cx="448329" cy="278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EC2B524-6C2F-B42F-C7E4-383E0EC36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6720" y="1452578"/>
                  <a:ext cx="448329" cy="278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B04953F-30BA-EE90-7047-33BCE9311722}"/>
                    </a:ext>
                  </a:extLst>
                </p:cNvPr>
                <p:cNvSpPr txBox="1"/>
                <p:nvPr/>
              </p:nvSpPr>
              <p:spPr>
                <a:xfrm>
                  <a:off x="10485199" y="1088177"/>
                  <a:ext cx="383292" cy="278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800">
                      <a:solidFill>
                        <a:schemeClr val="accent2">
                          <a:lumMod val="75000"/>
                        </a:schemeClr>
                      </a:solidFill>
                      <a:cs typeface="Times New Roman" panose="02020603050405020304" pitchFamily="18" charset="0"/>
                    </a:rPr>
                    <a:t> </a:t>
                  </a:r>
                  <a:endParaRPr lang="zh-CN" altLang="en-US" sz="280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B04953F-30BA-EE90-7047-33BCE9311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5199" y="1088177"/>
                  <a:ext cx="383292" cy="278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D4D3DD-0A44-FCD2-D0C7-E3E9A3587566}"/>
                  </a:ext>
                </a:extLst>
              </p:cNvPr>
              <p:cNvSpPr txBox="1"/>
              <p:nvPr/>
            </p:nvSpPr>
            <p:spPr>
              <a:xfrm>
                <a:off x="329629" y="3122780"/>
                <a:ext cx="5148198" cy="2158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independent measuring time</a:t>
                </a:r>
                <a:endParaRPr lang="en-US" altLang="zh-CN" b="0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Quantum Fisher Information: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4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𝜔𝛽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𝛽𝜔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D4D3DD-0A44-FCD2-D0C7-E3E9A358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29" y="3122780"/>
                <a:ext cx="5148198" cy="2158348"/>
              </a:xfrm>
              <a:prstGeom prst="rect">
                <a:avLst/>
              </a:prstGeom>
              <a:blipFill>
                <a:blip r:embed="rId5"/>
                <a:stretch>
                  <a:fillRect t="-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659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5552-9F17-B3E3-C43C-1328912C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86AFF3-3FC8-92FC-6D4B-4D7B984E76FD}"/>
              </a:ext>
            </a:extLst>
          </p:cNvPr>
          <p:cNvSpPr/>
          <p:nvPr/>
        </p:nvSpPr>
        <p:spPr>
          <a:xfrm>
            <a:off x="4145846" y="2891149"/>
            <a:ext cx="2333854" cy="779390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793B49-FB5C-0A11-65A9-5831AF55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E3969-AF9B-39C1-896F-0063BA33EA26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 </a:t>
            </a:r>
            <a:endParaRPr lang="zh-CN" altLang="en-US" b="1">
              <a:solidFill>
                <a:schemeClr val="bg1"/>
              </a:solidFill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8195EE0-22E2-3640-0EB1-46E76BDA982C}"/>
              </a:ext>
            </a:extLst>
          </p:cNvPr>
          <p:cNvCxnSpPr/>
          <p:nvPr/>
        </p:nvCxnSpPr>
        <p:spPr>
          <a:xfrm>
            <a:off x="171061" y="4191652"/>
            <a:ext cx="640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241959-6007-3854-C49D-E797415BA481}"/>
                  </a:ext>
                </a:extLst>
              </p:cNvPr>
              <p:cNvSpPr txBox="1"/>
              <p:nvPr/>
            </p:nvSpPr>
            <p:spPr>
              <a:xfrm>
                <a:off x="171061" y="510237"/>
                <a:ext cx="11930743" cy="16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Cambria Math" panose="02040503050406030204" pitchFamily="18" charset="0"/>
                  </a:rPr>
                  <a:t>For pure state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b="0">
                    <a:latin typeface="Cambria Math" panose="02040503050406030204" pitchFamily="18" charset="0"/>
                  </a:rPr>
                  <a:t>, operation on two spin, such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⁡[−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>
                    <a:latin typeface="Cambria Math" panose="02040503050406030204" pitchFamily="18" charset="0"/>
                  </a:rPr>
                  <a:t>, the Quantum Fisher Information is given by</a:t>
                </a:r>
                <a:endParaRPr lang="en-US" altLang="zh-CN" b="0" i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Cramér–Rao bound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241959-6007-3854-C49D-E797415BA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61" y="510237"/>
                <a:ext cx="11930743" cy="1607941"/>
              </a:xfrm>
              <a:prstGeom prst="rect">
                <a:avLst/>
              </a:prstGeom>
              <a:blipFill>
                <a:blip r:embed="rId3"/>
                <a:stretch>
                  <a:fillRect l="-409" t="-2662" b="-1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3776E5-3BDA-702A-3E18-8AC1EBBB946E}"/>
                  </a:ext>
                </a:extLst>
              </p:cNvPr>
              <p:cNvSpPr txBox="1"/>
              <p:nvPr/>
            </p:nvSpPr>
            <p:spPr>
              <a:xfrm>
                <a:off x="251926" y="2145708"/>
                <a:ext cx="3441228" cy="1892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Heisenberg limit: Best entangled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↑↓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↓↑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3776E5-3BDA-702A-3E18-8AC1EBBB9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26" y="2145708"/>
                <a:ext cx="3441228" cy="1892313"/>
              </a:xfrm>
              <a:prstGeom prst="rect">
                <a:avLst/>
              </a:prstGeom>
              <a:blipFill>
                <a:blip r:embed="rId4"/>
                <a:stretch>
                  <a:fillRect l="-1416" t="-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79C153-C17D-0D7F-8E74-5CADE20483D9}"/>
                  </a:ext>
                </a:extLst>
              </p:cNvPr>
              <p:cNvSpPr txBox="1"/>
              <p:nvPr/>
            </p:nvSpPr>
            <p:spPr>
              <a:xfrm>
                <a:off x="251926" y="4345285"/>
                <a:ext cx="3582956" cy="2002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Classical limit: Standard quantum</a:t>
                </a:r>
                <a:endParaRPr lang="en-US" altLang="zh-CN" b="1" i="1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79C153-C17D-0D7F-8E74-5CADE2048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26" y="4345285"/>
                <a:ext cx="3582956" cy="2002856"/>
              </a:xfrm>
              <a:prstGeom prst="rect">
                <a:avLst/>
              </a:prstGeom>
              <a:blipFill>
                <a:blip r:embed="rId5"/>
                <a:stretch>
                  <a:fillRect l="-1361" t="-1829" r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E10D57EC-6D73-8ECA-1596-1DBFBE9FF5C1}"/>
              </a:ext>
            </a:extLst>
          </p:cNvPr>
          <p:cNvGrpSpPr/>
          <p:nvPr/>
        </p:nvGrpSpPr>
        <p:grpSpPr>
          <a:xfrm>
            <a:off x="4443540" y="3002966"/>
            <a:ext cx="1840262" cy="581198"/>
            <a:chOff x="3333555" y="3227562"/>
            <a:chExt cx="2209421" cy="69778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894F907-F596-998A-0712-9A4BEB092E37}"/>
                </a:ext>
              </a:extLst>
            </p:cNvPr>
            <p:cNvSpPr/>
            <p:nvPr/>
          </p:nvSpPr>
          <p:spPr>
            <a:xfrm>
              <a:off x="3333555" y="3227562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3D7503-D2C3-2F65-823D-A81185ECCA2F}"/>
                </a:ext>
              </a:extLst>
            </p:cNvPr>
            <p:cNvSpPr/>
            <p:nvPr/>
          </p:nvSpPr>
          <p:spPr>
            <a:xfrm>
              <a:off x="4853820" y="3236193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7A06451-4E9D-BC92-8A9B-429F0D5CD25C}"/>
              </a:ext>
            </a:extLst>
          </p:cNvPr>
          <p:cNvGrpSpPr/>
          <p:nvPr/>
        </p:nvGrpSpPr>
        <p:grpSpPr>
          <a:xfrm>
            <a:off x="4382310" y="5165671"/>
            <a:ext cx="1916936" cy="597925"/>
            <a:chOff x="3333555" y="3227562"/>
            <a:chExt cx="2209421" cy="689156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B3221BF-0FF0-8117-51F8-2F97270193DF}"/>
                </a:ext>
              </a:extLst>
            </p:cNvPr>
            <p:cNvSpPr/>
            <p:nvPr/>
          </p:nvSpPr>
          <p:spPr>
            <a:xfrm>
              <a:off x="3333555" y="3227562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115BE40-9914-D81B-2098-F53672EB6005}"/>
                </a:ext>
              </a:extLst>
            </p:cNvPr>
            <p:cNvSpPr/>
            <p:nvPr/>
          </p:nvSpPr>
          <p:spPr>
            <a:xfrm>
              <a:off x="4853820" y="3227562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3D7F33D-96E2-FAE7-6075-2A0A41046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124" y="2001875"/>
            <a:ext cx="5490876" cy="3979048"/>
          </a:xfrm>
          <a:prstGeom prst="rect">
            <a:avLst/>
          </a:prstGeom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id="{D09383B3-4AA6-56C4-F897-63BBBB826E67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648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F91C-BA88-1A10-1CB6-803A1E4B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1BED1-598F-D312-3B39-7E783399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3DD59-96C6-7266-B23A-D3D705194F93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 Lower bound</a:t>
            </a:r>
            <a:endParaRPr lang="zh-CN" altLang="en-US" b="1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80E5DAB-895D-670F-AD79-ACB692CF341C}"/>
              </a:ext>
            </a:extLst>
          </p:cNvPr>
          <p:cNvCxnSpPr/>
          <p:nvPr/>
        </p:nvCxnSpPr>
        <p:spPr>
          <a:xfrm>
            <a:off x="772170" y="3536945"/>
            <a:ext cx="103844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4C18BB-271C-AD75-EE23-F039C79A4655}"/>
                  </a:ext>
                </a:extLst>
              </p:cNvPr>
              <p:cNvSpPr txBox="1"/>
              <p:nvPr/>
            </p:nvSpPr>
            <p:spPr>
              <a:xfrm>
                <a:off x="1157176" y="921026"/>
                <a:ext cx="9614452" cy="933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therefore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4C18BB-271C-AD75-EE23-F039C79A4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6" y="921026"/>
                <a:ext cx="9614452" cy="933397"/>
              </a:xfrm>
              <a:prstGeom prst="rect">
                <a:avLst/>
              </a:prstGeom>
              <a:blipFill>
                <a:blip r:embed="rId3"/>
                <a:stretch>
                  <a:fillRect l="-571" b="-3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D21D60-9076-199F-BCAB-D2BA6DC39EAA}"/>
                  </a:ext>
                </a:extLst>
              </p:cNvPr>
              <p:cNvSpPr txBox="1"/>
              <p:nvPr/>
            </p:nvSpPr>
            <p:spPr>
              <a:xfrm>
                <a:off x="1157176" y="2090463"/>
                <a:ext cx="9614452" cy="1109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therefore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D21D60-9076-199F-BCAB-D2BA6DC39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6" y="2090463"/>
                <a:ext cx="9614452" cy="1109406"/>
              </a:xfrm>
              <a:prstGeom prst="rect">
                <a:avLst/>
              </a:prstGeom>
              <a:blipFill>
                <a:blip r:embed="rId4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04F9F61-94FD-433C-5E89-A8B59CAA7046}"/>
                  </a:ext>
                </a:extLst>
              </p:cNvPr>
              <p:cNvSpPr txBox="1"/>
              <p:nvPr/>
            </p:nvSpPr>
            <p:spPr>
              <a:xfrm>
                <a:off x="1157176" y="3740430"/>
                <a:ext cx="9614452" cy="311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𝐷𝑂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𝑁𝑆𝐹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𝑆𝐹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(SF/NSF) means spin-flip/non-spin-flip channel with respect to the neutron polarization vector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𝑁𝑆𝐹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𝑆𝐹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 b="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Π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</m:d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𝑆𝐹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b="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𝑆𝐹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𝑆𝐹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𝑆𝐹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sub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</m:nary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𝑄𝐹𝐼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𝐷𝑂</m:t>
                            </m:r>
                          </m:sup>
                        </m:sSup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04F9F61-94FD-433C-5E89-A8B59CAA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6" y="3740430"/>
                <a:ext cx="9614452" cy="3111108"/>
              </a:xfrm>
              <a:prstGeom prst="rect">
                <a:avLst/>
              </a:prstGeom>
              <a:blipFill>
                <a:blip r:embed="rId5"/>
                <a:stretch>
                  <a:fillRect l="-571" t="-1373" r="-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00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F3E6-1737-7359-5314-67F7C41B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29B277-5111-AF85-A359-8856A423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D2B3-7E09-328C-0A1E-5001F027E475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 in other channel and position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5D162F-1634-00B5-1A85-4A7969237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4120"/>
            <a:ext cx="5894159" cy="5250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EDACAE8-FE0D-F560-B8A0-1BD77C0545AA}"/>
                  </a:ext>
                </a:extLst>
              </p:cNvPr>
              <p:cNvSpPr txBox="1"/>
              <p:nvPr/>
            </p:nvSpPr>
            <p:spPr>
              <a:xfrm>
                <a:off x="170599" y="359370"/>
                <a:ext cx="738638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,0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l-GR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0,0,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EDACAE8-FE0D-F560-B8A0-1BD77C054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99" y="359370"/>
                <a:ext cx="7386381" cy="714683"/>
              </a:xfrm>
              <a:prstGeom prst="rect">
                <a:avLst/>
              </a:prstGeom>
              <a:blipFill>
                <a:blip r:embed="rId4"/>
                <a:stretch>
                  <a:fillRect b="-13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D5C57CF0-CF5D-F78E-B8DE-FFEEC02D2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560" y="874119"/>
            <a:ext cx="5865357" cy="51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60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24B37-5BED-A06F-351F-C61E9842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52842C-7136-D416-E4B8-176429F9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A8C3B-1258-432D-B341-AC29F99952EC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Understanding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4E3EF1-0254-6F8F-D01B-C87D9A48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2578"/>
            <a:ext cx="12192000" cy="4965904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372DE1-AF50-71FC-80C7-D700A8CDF889}"/>
              </a:ext>
            </a:extLst>
          </p:cNvPr>
          <p:cNvSpPr/>
          <p:nvPr/>
        </p:nvSpPr>
        <p:spPr>
          <a:xfrm>
            <a:off x="7994157" y="2985006"/>
            <a:ext cx="1445517" cy="837743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0DB3A2-1798-0764-3F89-E1AD1ADF7B5E}"/>
              </a:ext>
            </a:extLst>
          </p:cNvPr>
          <p:cNvSpPr/>
          <p:nvPr/>
        </p:nvSpPr>
        <p:spPr>
          <a:xfrm>
            <a:off x="9439674" y="2224391"/>
            <a:ext cx="2020441" cy="1598358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C3BDF33-6B82-42BD-4EE1-69054F3FF8F8}"/>
              </a:ext>
            </a:extLst>
          </p:cNvPr>
          <p:cNvSpPr/>
          <p:nvPr/>
        </p:nvSpPr>
        <p:spPr>
          <a:xfrm>
            <a:off x="678956" y="4397673"/>
            <a:ext cx="3860191" cy="1811460"/>
          </a:xfrm>
          <a:prstGeom prst="roundRect">
            <a:avLst/>
          </a:prstGeom>
          <a:noFill/>
          <a:ln w="3810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29B6BE8-B28E-6279-D226-4959AEFEC5F0}"/>
                  </a:ext>
                </a:extLst>
              </p:cNvPr>
              <p:cNvSpPr txBox="1"/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QFI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0,0,0</m:t>
                        </m:r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,0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l-GR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29B6BE8-B28E-6279-D226-4959AEFEC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blipFill>
                <a:blip r:embed="rId4"/>
                <a:stretch>
                  <a:fillRect l="-908" t="-4237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注: 双弯曲线形 4">
            <a:extLst>
              <a:ext uri="{FF2B5EF4-FFF2-40B4-BE49-F238E27FC236}">
                <a16:creationId xmlns:a16="http://schemas.microsoft.com/office/drawing/2014/main" id="{B9481BE2-BB7B-F541-57EF-FFCD7B89B754}"/>
              </a:ext>
            </a:extLst>
          </p:cNvPr>
          <p:cNvSpPr/>
          <p:nvPr/>
        </p:nvSpPr>
        <p:spPr>
          <a:xfrm>
            <a:off x="5760098" y="306643"/>
            <a:ext cx="3569981" cy="1200329"/>
          </a:xfrm>
          <a:prstGeom prst="borderCallout3">
            <a:avLst>
              <a:gd name="adj1" fmla="val 31454"/>
              <a:gd name="adj2" fmla="val 100424"/>
              <a:gd name="adj3" fmla="val 31454"/>
              <a:gd name="adj4" fmla="val 114406"/>
              <a:gd name="adj5" fmla="val 116493"/>
              <a:gd name="adj6" fmla="val 114450"/>
              <a:gd name="adj7" fmla="val 158875"/>
              <a:gd name="adj8" fmla="val 136763"/>
            </a:avLst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EED59E8-C303-6BDA-B7FD-4286F894CCD2}"/>
                  </a:ext>
                </a:extLst>
              </p:cNvPr>
              <p:cNvSpPr txBox="1"/>
              <p:nvPr/>
            </p:nvSpPr>
            <p:spPr>
              <a:xfrm>
                <a:off x="5760098" y="324976"/>
                <a:ext cx="34921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 (1): The absence of spontaneous symmetry breaking [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in a finite system</a:t>
                </a:r>
              </a:p>
              <a:p>
                <a:pPr algn="just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 (2): Operator chosen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EED59E8-C303-6BDA-B7FD-4286F894C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98" y="324976"/>
                <a:ext cx="3492160" cy="1200329"/>
              </a:xfrm>
              <a:prstGeom prst="rect">
                <a:avLst/>
              </a:prstGeom>
              <a:blipFill>
                <a:blip r:embed="rId5"/>
                <a:stretch>
                  <a:fillRect l="-1571" t="-2538" r="-1396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35643-4DB9-33C8-0C1F-22EE76A33FE7}"/>
                  </a:ext>
                </a:extLst>
              </p:cNvPr>
              <p:cNvSpPr txBox="1"/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35643-4DB9-33C8-0C1F-22EE76A33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337B0F-3FCB-6ED5-3881-998E38710CEF}"/>
                  </a:ext>
                </a:extLst>
              </p:cNvPr>
              <p:cNvSpPr txBox="1"/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337B0F-3FCB-6ED5-3881-998E3871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4A53702-3AFE-C174-449E-0459F7DFD035}"/>
                  </a:ext>
                </a:extLst>
              </p:cNvPr>
              <p:cNvSpPr txBox="1"/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FM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4A53702-3AFE-C174-449E-0459F7DFD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644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869B-1AD8-A934-216F-62844AA6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DB245-4887-CCBB-AF38-6432C7E4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67CD1-56C0-C796-0A77-36162386436B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ED and GMFT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83C35B-9709-6164-3260-1134CD208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045" y="484344"/>
            <a:ext cx="6101980" cy="58893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463545-8161-F584-E6FE-EAABE91B7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2203223"/>
            <a:ext cx="5728070" cy="245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1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9c9b90-8b43-44f3-86aa-d7b4e00a039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61BB435B5DD14D82361389CB674435" ma:contentTypeVersion="16" ma:contentTypeDescription="Create a new document." ma:contentTypeScope="" ma:versionID="c3ff36814eb2096ed564c2105d3266a3">
  <xsd:schema xmlns:xsd="http://www.w3.org/2001/XMLSchema" xmlns:xs="http://www.w3.org/2001/XMLSchema" xmlns:p="http://schemas.microsoft.com/office/2006/metadata/properties" xmlns:ns3="229c9b90-8b43-44f3-86aa-d7b4e00a039e" xmlns:ns4="53e43bba-5525-4a4c-932c-9ce7429ae8f8" targetNamespace="http://schemas.microsoft.com/office/2006/metadata/properties" ma:root="true" ma:fieldsID="e2dc6590b87744fde76230fe8acf77b3" ns3:_="" ns4:_="">
    <xsd:import namespace="229c9b90-8b43-44f3-86aa-d7b4e00a039e"/>
    <xsd:import namespace="53e43bba-5525-4a4c-932c-9ce7429ae8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c9b90-8b43-44f3-86aa-d7b4e00a03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43bba-5525-4a4c-932c-9ce7429ae8f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F1A1BC-C5ED-40AD-B4C0-DEDA089604FD}">
  <ds:schemaRefs>
    <ds:schemaRef ds:uri="http://schemas.microsoft.com/office/2006/documentManagement/types"/>
    <ds:schemaRef ds:uri="229c9b90-8b43-44f3-86aa-d7b4e00a039e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53e43bba-5525-4a4c-932c-9ce7429ae8f8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64E76B8-D1CA-46D3-A3A5-918B9C87510F}">
  <ds:schemaRefs>
    <ds:schemaRef ds:uri="229c9b90-8b43-44f3-86aa-d7b4e00a039e"/>
    <ds:schemaRef ds:uri="53e43bba-5525-4a4c-932c-9ce7429ae8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6A942A3-1107-4E81-85CF-76D61FC174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1572</Words>
  <Application>Microsoft Office PowerPoint</Application>
  <PresentationFormat>宽屏</PresentationFormat>
  <Paragraphs>318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Arial</vt:lpstr>
      <vt:lpstr>Calibri</vt:lpstr>
      <vt:lpstr>Cambria Math</vt:lpstr>
      <vt:lpstr>Times New Roman</vt:lpstr>
      <vt:lpstr>Office Theme</vt:lpstr>
      <vt:lpstr>Quantum Fisher Information as a Thermal and Dynamical Probe in Frustrated spin system</vt:lpstr>
      <vt:lpstr>Cooperators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you. arXiv:2510.14813 (2025)  arXiv:2603.19951 (2026)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argyi bug</dc:creator>
  <cp:lastModifiedBy>Zhou Chengkang</cp:lastModifiedBy>
  <cp:revision>3</cp:revision>
  <dcterms:created xsi:type="dcterms:W3CDTF">2020-05-27T02:21:40Z</dcterms:created>
  <dcterms:modified xsi:type="dcterms:W3CDTF">2026-08-17T02:48:43Z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0x0101003661BB435B5DD14D82361389CB674435</vt:lpwstr>
  </property>
</Properties>
</file>